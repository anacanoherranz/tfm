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36"/>
  </p:notesMasterIdLst>
  <p:sldIdLst>
    <p:sldId id="256" r:id="rId2"/>
    <p:sldId id="290" r:id="rId3"/>
    <p:sldId id="291" r:id="rId4"/>
    <p:sldId id="292" r:id="rId5"/>
    <p:sldId id="300" r:id="rId6"/>
    <p:sldId id="301" r:id="rId7"/>
    <p:sldId id="298" r:id="rId8"/>
    <p:sldId id="299" r:id="rId9"/>
    <p:sldId id="326" r:id="rId10"/>
    <p:sldId id="325" r:id="rId11"/>
    <p:sldId id="322" r:id="rId12"/>
    <p:sldId id="309" r:id="rId13"/>
    <p:sldId id="329" r:id="rId14"/>
    <p:sldId id="317" r:id="rId15"/>
    <p:sldId id="318" r:id="rId16"/>
    <p:sldId id="324" r:id="rId17"/>
    <p:sldId id="319" r:id="rId18"/>
    <p:sldId id="320" r:id="rId19"/>
    <p:sldId id="311" r:id="rId20"/>
    <p:sldId id="323" r:id="rId21"/>
    <p:sldId id="328" r:id="rId22"/>
    <p:sldId id="315" r:id="rId23"/>
    <p:sldId id="316" r:id="rId24"/>
    <p:sldId id="314" r:id="rId25"/>
    <p:sldId id="321" r:id="rId26"/>
    <p:sldId id="327" r:id="rId27"/>
    <p:sldId id="302" r:id="rId28"/>
    <p:sldId id="303" r:id="rId29"/>
    <p:sldId id="304" r:id="rId30"/>
    <p:sldId id="305" r:id="rId31"/>
    <p:sldId id="306" r:id="rId32"/>
    <p:sldId id="307" r:id="rId33"/>
    <p:sldId id="308" r:id="rId34"/>
    <p:sldId id="310" r:id="rId35"/>
  </p:sldIdLst>
  <p:sldSz cx="9144000" cy="5143500" type="screen16x9"/>
  <p:notesSz cx="6858000" cy="9144000"/>
  <p:embeddedFontLst>
    <p:embeddedFont>
      <p:font typeface="Fira Sans Extra Condensed Medium" panose="020B0604020202020204" charset="0"/>
      <p:regular r:id="rId37"/>
      <p:bold r:id="rId38"/>
      <p:italic r:id="rId39"/>
      <p:boldItalic r:id="rId40"/>
    </p:embeddedFont>
    <p:embeddedFont>
      <p:font typeface="Roboto" panose="020B0604020202020204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88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36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282242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8ea72f4a77_6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8ea72f4a77_6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9034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187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24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299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0280" y="536650"/>
            <a:ext cx="49182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0275" y="2589250"/>
            <a:ext cx="4918200" cy="53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  <a:defRPr sz="18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EA4335"/>
          </p15:clr>
        </p15:guide>
        <p15:guide id="2" pos="2880">
          <p15:clr>
            <a:srgbClr val="EA4335"/>
          </p15:clr>
        </p15:guide>
        <p15:guide id="3" pos="288">
          <p15:clr>
            <a:srgbClr val="EA4335"/>
          </p15:clr>
        </p15:guide>
        <p15:guide id="4" pos="5472">
          <p15:clr>
            <a:srgbClr val="EA4335"/>
          </p15:clr>
        </p15:guide>
        <p15:guide id="5" orient="horz" pos="262">
          <p15:clr>
            <a:srgbClr val="EA4335"/>
          </p15:clr>
        </p15:guide>
        <p15:guide id="6" orient="horz" pos="2978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1724988" y="947725"/>
            <a:ext cx="5694000" cy="904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solidFill>
                  <a:schemeClr val="tx1"/>
                </a:solidFill>
              </a:rPr>
              <a:t>resumen resultados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1724988" y="1784475"/>
            <a:ext cx="5694000" cy="3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 smtClean="0">
                <a:solidFill>
                  <a:schemeClr val="tx1"/>
                </a:solidFill>
              </a:rPr>
              <a:t>Ana C</a:t>
            </a:r>
            <a:r>
              <a:rPr lang="es-ES" sz="1700" dirty="0" smtClean="0">
                <a:solidFill>
                  <a:schemeClr val="tx1"/>
                </a:solidFill>
              </a:rPr>
              <a:t>a</a:t>
            </a:r>
            <a:r>
              <a:rPr lang="en" sz="1700" dirty="0" smtClean="0">
                <a:solidFill>
                  <a:schemeClr val="tx1"/>
                </a:solidFill>
              </a:rPr>
              <a:t>no Herranz</a:t>
            </a:r>
            <a:endParaRPr sz="1700" dirty="0">
              <a:solidFill>
                <a:schemeClr val="tx1"/>
              </a:solidFill>
            </a:endParaRPr>
          </a:p>
        </p:txBody>
      </p:sp>
      <p:grpSp>
        <p:nvGrpSpPr>
          <p:cNvPr id="57" name="Google Shape;57;p15"/>
          <p:cNvGrpSpPr/>
          <p:nvPr/>
        </p:nvGrpSpPr>
        <p:grpSpPr>
          <a:xfrm>
            <a:off x="24639" y="3630257"/>
            <a:ext cx="9020998" cy="1562983"/>
            <a:chOff x="711150" y="1559663"/>
            <a:chExt cx="7721575" cy="2350013"/>
          </a:xfrm>
        </p:grpSpPr>
        <p:sp>
          <p:nvSpPr>
            <p:cNvPr id="58" name="Google Shape;58;p15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9" name="Google Shape;59;p15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5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5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" name="Google Shape;71;p15"/>
          <p:cNvGrpSpPr/>
          <p:nvPr/>
        </p:nvGrpSpPr>
        <p:grpSpPr>
          <a:xfrm>
            <a:off x="24639" y="2664804"/>
            <a:ext cx="9129855" cy="2519041"/>
            <a:chOff x="710288" y="2137750"/>
            <a:chExt cx="7717992" cy="1803050"/>
          </a:xfrm>
        </p:grpSpPr>
        <p:sp>
          <p:nvSpPr>
            <p:cNvPr id="72" name="Google Shape;72;p15"/>
            <p:cNvSpPr/>
            <p:nvPr/>
          </p:nvSpPr>
          <p:spPr>
            <a:xfrm>
              <a:off x="710288" y="2172905"/>
              <a:ext cx="7717992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3" name="Google Shape;73;p15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</a:t>
            </a:r>
            <a:endParaRPr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621" y="1073150"/>
            <a:ext cx="6804783" cy="357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GRANGER CAUSALITY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081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BOOTSTRAP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5118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Número links según filtro de abundancia mínima de polen 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1" y="1453884"/>
            <a:ext cx="4227669" cy="315397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663" y="1453884"/>
            <a:ext cx="4232212" cy="3157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302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Número links según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308" y="1498914"/>
            <a:ext cx="4176493" cy="311579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12" y="1478744"/>
            <a:ext cx="4314511" cy="321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311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Redes por comunidades. Delta y condicionales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78" y="1201271"/>
            <a:ext cx="8785593" cy="291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72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Porcentaje de links negativos según umbral de p valor. 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56" y="1028980"/>
            <a:ext cx="5997178" cy="362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360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31" y="1260311"/>
            <a:ext cx="8770550" cy="291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384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159" y="1095374"/>
            <a:ext cx="4251595" cy="317182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92" y="1095375"/>
            <a:ext cx="4251595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92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Porcentaje de links negativos según umbral de p valor. 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4888"/>
            <a:ext cx="4501593" cy="288131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275" y="1182689"/>
            <a:ext cx="4347058" cy="278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49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Basa de la Mora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6572567" y="1060162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1 - 2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0.20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0.40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0.62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6572567" y="2349014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2 - 3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0.17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0.43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0.61</a:t>
            </a: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79" y="1253326"/>
            <a:ext cx="5170531" cy="3207038"/>
          </a:xfrm>
          <a:prstGeom prst="rect">
            <a:avLst/>
          </a:prstGeom>
        </p:spPr>
      </p:pic>
      <p:sp>
        <p:nvSpPr>
          <p:cNvPr id="10" name="CuadroTexto 9"/>
          <p:cNvSpPr txBox="1"/>
          <p:nvPr/>
        </p:nvSpPr>
        <p:spPr>
          <a:xfrm>
            <a:off x="6572567" y="3572832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1 - 3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0.12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0.25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0.46</a:t>
            </a:r>
          </a:p>
        </p:txBody>
      </p:sp>
    </p:spTree>
    <p:extLst>
      <p:ext uri="{BB962C8B-B14F-4D97-AF65-F5344CB8AC3E}">
        <p14:creationId xmlns:p14="http://schemas.microsoft.com/office/powerpoint/2010/main" val="2792178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Basa de la Mora </a:t>
            </a:r>
            <a:r>
              <a:rPr lang="es-ES" dirty="0" err="1" smtClean="0"/>
              <a:t>norm</a:t>
            </a:r>
            <a:endParaRPr lang="es-ES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099" y="1014101"/>
            <a:ext cx="6077465" cy="376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24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GG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21" y="1465791"/>
            <a:ext cx="4380054" cy="271674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275" y="110153"/>
            <a:ext cx="3862907" cy="239598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0612" y="2506133"/>
            <a:ext cx="3611370" cy="2239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302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64" y="2885656"/>
            <a:ext cx="7166623" cy="204194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86" y="896625"/>
            <a:ext cx="7249160" cy="206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778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GG normalizada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08" y="1608667"/>
            <a:ext cx="8738287" cy="201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4702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(Garba </a:t>
            </a:r>
            <a:r>
              <a:rPr lang="es-ES" dirty="0" err="1" smtClean="0"/>
              <a:t>Guracha</a:t>
            </a:r>
            <a:r>
              <a:rPr lang="es-ES" dirty="0" smtClean="0"/>
              <a:t> con pc)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093" y="960969"/>
            <a:ext cx="3923240" cy="3923240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598" y="1489166"/>
            <a:ext cx="3568744" cy="268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5788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(Garba </a:t>
            </a:r>
            <a:r>
              <a:rPr lang="es-ES" dirty="0" err="1" smtClean="0"/>
              <a:t>Guracha</a:t>
            </a:r>
            <a:r>
              <a:rPr lang="es-ES" dirty="0" smtClean="0"/>
              <a:t> no pc)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333" y="1210733"/>
            <a:ext cx="4265200" cy="320569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11" y="1168128"/>
            <a:ext cx="3248297" cy="32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6297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82" y="972910"/>
            <a:ext cx="2736847" cy="1697538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79" y="2670448"/>
            <a:ext cx="2738160" cy="169835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0542" y="2868197"/>
            <a:ext cx="2419340" cy="150060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67" y="1094374"/>
            <a:ext cx="2445116" cy="1516591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8601" y="972910"/>
            <a:ext cx="2541017" cy="1576074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4633" y="2957733"/>
            <a:ext cx="2274985" cy="141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1170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 GG normalizada</a:t>
            </a:r>
            <a:endParaRPr lang="es-ES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109" y="1210546"/>
            <a:ext cx="4683170" cy="2581275"/>
          </a:xfrm>
          <a:prstGeom prst="rect">
            <a:avLst/>
          </a:prstGeom>
        </p:spPr>
      </p:pic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95" y="1210546"/>
            <a:ext cx="4018962" cy="2492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924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 Basa Mora normalizada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870" y="1566333"/>
            <a:ext cx="4736933" cy="261090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" y="1566333"/>
            <a:ext cx="3990975" cy="2475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896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33" y="1092758"/>
            <a:ext cx="7603284" cy="3589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330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704" y="1042579"/>
            <a:ext cx="6708366" cy="214838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78" y="2810782"/>
            <a:ext cx="6712992" cy="2122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536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K_in</a:t>
            </a:r>
            <a:r>
              <a:rPr lang="es-ES" dirty="0" smtClean="0"/>
              <a:t> </a:t>
            </a:r>
            <a:r>
              <a:rPr lang="es-ES" dirty="0" err="1" smtClean="0"/>
              <a:t>k_out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933" y="207087"/>
            <a:ext cx="5816675" cy="480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142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202" y="3129479"/>
            <a:ext cx="6062304" cy="2014021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97" y="972445"/>
            <a:ext cx="6647715" cy="2208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7835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35" y="1172190"/>
            <a:ext cx="8269740" cy="294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575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err="1" smtClean="0"/>
              <a:t>Tramacastilla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373981" y="1770869"/>
            <a:ext cx="17865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1</a:t>
            </a:r>
          </a:p>
          <a:p>
            <a:endParaRPr lang="es-ES" dirty="0" smtClean="0"/>
          </a:p>
          <a:p>
            <a:r>
              <a:rPr lang="es-ES" dirty="0" smtClean="0"/>
              <a:t>11269-</a:t>
            </a:r>
            <a:r>
              <a:rPr lang="es-ES" dirty="0"/>
              <a:t>5078</a:t>
            </a:r>
            <a:r>
              <a:rPr lang="es-ES" dirty="0" smtClean="0"/>
              <a:t> (79-32) 49 puntos</a:t>
            </a:r>
          </a:p>
          <a:p>
            <a:endParaRPr lang="es-ES" dirty="0"/>
          </a:p>
          <a:p>
            <a:r>
              <a:rPr lang="es-ES" dirty="0" smtClean="0"/>
              <a:t>34/40 especies</a:t>
            </a:r>
          </a:p>
          <a:p>
            <a:endParaRPr lang="es-ES" dirty="0"/>
          </a:p>
          <a:p>
            <a:r>
              <a:rPr lang="es-ES" dirty="0" smtClean="0"/>
              <a:t>60 significativos</a:t>
            </a:r>
          </a:p>
          <a:p>
            <a:r>
              <a:rPr lang="es-ES" dirty="0" smtClean="0"/>
              <a:t>6 negativos (10%)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7167185" y="1663146"/>
            <a:ext cx="15196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2</a:t>
            </a:r>
          </a:p>
          <a:p>
            <a:endParaRPr lang="es-ES" dirty="0"/>
          </a:p>
          <a:p>
            <a:r>
              <a:rPr lang="es-ES" dirty="0" smtClean="0"/>
              <a:t>4946-863 (31:0) 32 puntos</a:t>
            </a:r>
          </a:p>
          <a:p>
            <a:endParaRPr lang="es-ES" dirty="0"/>
          </a:p>
          <a:p>
            <a:r>
              <a:rPr lang="es-ES" dirty="0" smtClean="0"/>
              <a:t>34/40 especies</a:t>
            </a:r>
          </a:p>
          <a:p>
            <a:endParaRPr lang="es-ES" dirty="0"/>
          </a:p>
          <a:p>
            <a:r>
              <a:rPr lang="es-ES" dirty="0" smtClean="0"/>
              <a:t>32 significativos</a:t>
            </a:r>
          </a:p>
          <a:p>
            <a:r>
              <a:rPr lang="es-ES" dirty="0"/>
              <a:t>4</a:t>
            </a:r>
            <a:r>
              <a:rPr lang="es-ES" dirty="0" smtClean="0"/>
              <a:t> negativos (12.5%)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5" y="1323302"/>
            <a:ext cx="4788893" cy="302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840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err="1" smtClean="0"/>
              <a:t>Tramacastilla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373981" y="1770869"/>
            <a:ext cx="17865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1</a:t>
            </a:r>
          </a:p>
          <a:p>
            <a:endParaRPr lang="es-ES" dirty="0" smtClean="0"/>
          </a:p>
          <a:p>
            <a:r>
              <a:rPr lang="es-ES" dirty="0" smtClean="0"/>
              <a:t>11269-</a:t>
            </a:r>
            <a:r>
              <a:rPr lang="es-ES" dirty="0"/>
              <a:t>5078</a:t>
            </a:r>
            <a:r>
              <a:rPr lang="es-ES" dirty="0" smtClean="0"/>
              <a:t> (79-32) 39 puntos</a:t>
            </a:r>
          </a:p>
          <a:p>
            <a:endParaRPr lang="es-ES" dirty="0"/>
          </a:p>
          <a:p>
            <a:r>
              <a:rPr lang="es-ES" dirty="0" smtClean="0"/>
              <a:t>37/40 especies</a:t>
            </a:r>
          </a:p>
          <a:p>
            <a:endParaRPr lang="es-ES" dirty="0"/>
          </a:p>
          <a:p>
            <a:r>
              <a:rPr lang="es-ES" dirty="0" smtClean="0"/>
              <a:t>55 significativos</a:t>
            </a:r>
          </a:p>
          <a:p>
            <a:r>
              <a:rPr lang="es-ES" dirty="0"/>
              <a:t>7</a:t>
            </a:r>
            <a:r>
              <a:rPr lang="es-ES" dirty="0" smtClean="0"/>
              <a:t> negativos (12.73%)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7167185" y="1663146"/>
            <a:ext cx="15196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2</a:t>
            </a:r>
          </a:p>
          <a:p>
            <a:endParaRPr lang="es-ES" dirty="0"/>
          </a:p>
          <a:p>
            <a:r>
              <a:rPr lang="es-ES" dirty="0" smtClean="0"/>
              <a:t>4946-863 (31:0) 42 puntos</a:t>
            </a:r>
          </a:p>
          <a:p>
            <a:endParaRPr lang="es-ES" dirty="0"/>
          </a:p>
          <a:p>
            <a:r>
              <a:rPr lang="es-ES" dirty="0" smtClean="0"/>
              <a:t>37/40 especies</a:t>
            </a:r>
          </a:p>
          <a:p>
            <a:endParaRPr lang="es-ES" dirty="0"/>
          </a:p>
          <a:p>
            <a:r>
              <a:rPr lang="es-ES" dirty="0" smtClean="0"/>
              <a:t>36 significativos</a:t>
            </a:r>
          </a:p>
          <a:p>
            <a:r>
              <a:rPr lang="es-ES" dirty="0" smtClean="0"/>
              <a:t>11 negativos (30.56%)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5" y="1323302"/>
            <a:ext cx="4788893" cy="302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70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483675" y="901279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0.71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=0.68</a:t>
            </a:r>
          </a:p>
          <a:p>
            <a:r>
              <a:rPr lang="es-ES" sz="1200" dirty="0" err="1" smtClean="0"/>
              <a:t>Balanced</a:t>
            </a:r>
            <a:r>
              <a:rPr lang="es-ES" sz="1200" dirty="0" smtClean="0"/>
              <a:t> </a:t>
            </a:r>
            <a:r>
              <a:rPr lang="es-ES" sz="1200" dirty="0" err="1" smtClean="0"/>
              <a:t>core</a:t>
            </a:r>
            <a:endParaRPr lang="es-ES" sz="1200" dirty="0" smtClean="0"/>
          </a:p>
        </p:txBody>
      </p:sp>
      <p:sp>
        <p:nvSpPr>
          <p:cNvPr id="4" name="CuadroTexto 3"/>
          <p:cNvSpPr txBox="1"/>
          <p:nvPr/>
        </p:nvSpPr>
        <p:spPr>
          <a:xfrm>
            <a:off x="3692018" y="918914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0.71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=0.81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6723110" y="901279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0.65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=0.84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2" y="1917542"/>
            <a:ext cx="2625017" cy="2000013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801" y="1912823"/>
            <a:ext cx="2631211" cy="2004732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605" y="1912823"/>
            <a:ext cx="2631211" cy="2004732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371" y="3738653"/>
            <a:ext cx="5316070" cy="141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467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5" y="1021977"/>
            <a:ext cx="7969653" cy="397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16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30" y="415425"/>
            <a:ext cx="3853423" cy="210186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8406" y="1981961"/>
            <a:ext cx="3813737" cy="2080220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6437" y="2856939"/>
            <a:ext cx="3736882" cy="203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944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4" y="972111"/>
            <a:ext cx="4904216" cy="3662642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6350903" y="1134447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0.2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=0.2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6350903" y="235207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0.40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=0.45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6373487" y="353690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0.48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=0.47</a:t>
            </a:r>
          </a:p>
        </p:txBody>
      </p:sp>
    </p:spTree>
    <p:extLst>
      <p:ext uri="{BB962C8B-B14F-4D97-AF65-F5344CB8AC3E}">
        <p14:creationId xmlns:p14="http://schemas.microsoft.com/office/powerpoint/2010/main" val="872354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6350903" y="1134447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0.2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=0.2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6350903" y="235207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0.40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=0.45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6373487" y="353690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0.48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=0.47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044" y="965928"/>
            <a:ext cx="3815447" cy="381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044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366" y="896625"/>
            <a:ext cx="5504610" cy="413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343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Data Charts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1E35A1"/>
      </a:accent1>
      <a:accent2>
        <a:srgbClr val="0C79F3"/>
      </a:accent2>
      <a:accent3>
        <a:srgbClr val="00D4F0"/>
      </a:accent3>
      <a:accent4>
        <a:srgbClr val="2170B7"/>
      </a:accent4>
      <a:accent5>
        <a:srgbClr val="59A7FF"/>
      </a:accent5>
      <a:accent6>
        <a:srgbClr val="071554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50195</TotalTime>
  <Words>290</Words>
  <Application>Microsoft Office PowerPoint</Application>
  <PresentationFormat>Presentación en pantalla (16:9)</PresentationFormat>
  <Paragraphs>119</Paragraphs>
  <Slides>34</Slides>
  <Notes>4</Notes>
  <HiddenSlides>8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8" baseType="lpstr">
      <vt:lpstr>Fira Sans Extra Condensed Medium</vt:lpstr>
      <vt:lpstr>Roboto</vt:lpstr>
      <vt:lpstr>Arial</vt:lpstr>
      <vt:lpstr>Data Charts Infographics by Slidesgo</vt:lpstr>
      <vt:lpstr>resumen resultados</vt:lpstr>
      <vt:lpstr>GAM</vt:lpstr>
      <vt:lpstr>GRANGER CAUSALITY</vt:lpstr>
      <vt:lpstr>BOOTSTRAP</vt:lpstr>
      <vt:lpstr>Número links según filtro de abundancia mínima de polen </vt:lpstr>
      <vt:lpstr>Número links según</vt:lpstr>
      <vt:lpstr>Redes por comunidades. Delta y condicionales</vt:lpstr>
      <vt:lpstr>Porcentaje de links negativos según umbral de p valor. </vt:lpstr>
      <vt:lpstr>Garba Guracha</vt:lpstr>
      <vt:lpstr>Garba Guracha</vt:lpstr>
      <vt:lpstr>Porcentaje de links negativos según umbral de p valor. </vt:lpstr>
      <vt:lpstr>Temporalidad Basa de la Mora</vt:lpstr>
      <vt:lpstr>Temporalidad Basa de la Mora norm</vt:lpstr>
      <vt:lpstr>Temporalidad GG</vt:lpstr>
      <vt:lpstr>Temporalidad</vt:lpstr>
      <vt:lpstr>Temporalidad GG normalizada</vt:lpstr>
      <vt:lpstr>Balance (Garba Guracha con pc)</vt:lpstr>
      <vt:lpstr>Balance (Garba Guracha no pc)</vt:lpstr>
      <vt:lpstr>Reciprocidad</vt:lpstr>
      <vt:lpstr>Reciprocidad GG normalizada</vt:lpstr>
      <vt:lpstr>Reciprocidad Basa Mora normalizada</vt:lpstr>
      <vt:lpstr>Reciprocidad</vt:lpstr>
      <vt:lpstr>Reciprocidad</vt:lpstr>
      <vt:lpstr>K_in k_out</vt:lpstr>
      <vt:lpstr>Garba Guracha</vt:lpstr>
      <vt:lpstr>Garba Guracha</vt:lpstr>
      <vt:lpstr>Tramacastilla</vt:lpstr>
      <vt:lpstr>Tramacastilla</vt:lpstr>
      <vt:lpstr>Balance local y SC</vt:lpstr>
      <vt:lpstr>Balance local y SC</vt:lpstr>
      <vt:lpstr>Balance local y SC</vt:lpstr>
      <vt:lpstr>Balance local y SC</vt:lpstr>
      <vt:lpstr>Balance local y SC</vt:lpstr>
      <vt:lpstr>Balance local y SC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TFM REVIEW</dc:title>
  <dc:creator>Ana Cano</dc:creator>
  <cp:lastModifiedBy>Cuenta Microsoft</cp:lastModifiedBy>
  <cp:revision>69</cp:revision>
  <dcterms:modified xsi:type="dcterms:W3CDTF">2026-05-12T15:41:43Z</dcterms:modified>
</cp:coreProperties>
</file>