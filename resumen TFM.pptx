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43"/>
  </p:notesMasterIdLst>
  <p:sldIdLst>
    <p:sldId id="256" r:id="rId2"/>
    <p:sldId id="290" r:id="rId3"/>
    <p:sldId id="291" r:id="rId4"/>
    <p:sldId id="292" r:id="rId5"/>
    <p:sldId id="300" r:id="rId6"/>
    <p:sldId id="301" r:id="rId7"/>
    <p:sldId id="298" r:id="rId8"/>
    <p:sldId id="299" r:id="rId9"/>
    <p:sldId id="326" r:id="rId10"/>
    <p:sldId id="325" r:id="rId11"/>
    <p:sldId id="334" r:id="rId12"/>
    <p:sldId id="322" r:id="rId13"/>
    <p:sldId id="335" r:id="rId14"/>
    <p:sldId id="309" r:id="rId15"/>
    <p:sldId id="329" r:id="rId16"/>
    <p:sldId id="317" r:id="rId17"/>
    <p:sldId id="318" r:id="rId18"/>
    <p:sldId id="324" r:id="rId19"/>
    <p:sldId id="330" r:id="rId20"/>
    <p:sldId id="331" r:id="rId21"/>
    <p:sldId id="311" r:id="rId22"/>
    <p:sldId id="323" r:id="rId23"/>
    <p:sldId id="328" r:id="rId24"/>
    <p:sldId id="315" r:id="rId25"/>
    <p:sldId id="316" r:id="rId26"/>
    <p:sldId id="332" r:id="rId27"/>
    <p:sldId id="333" r:id="rId28"/>
    <p:sldId id="321" r:id="rId29"/>
    <p:sldId id="314" r:id="rId30"/>
    <p:sldId id="336" r:id="rId31"/>
    <p:sldId id="337" r:id="rId32"/>
    <p:sldId id="319" r:id="rId33"/>
    <p:sldId id="320" r:id="rId34"/>
    <p:sldId id="302" r:id="rId35"/>
    <p:sldId id="303" r:id="rId36"/>
    <p:sldId id="304" r:id="rId37"/>
    <p:sldId id="305" r:id="rId38"/>
    <p:sldId id="306" r:id="rId39"/>
    <p:sldId id="307" r:id="rId40"/>
    <p:sldId id="308" r:id="rId41"/>
    <p:sldId id="310" r:id="rId42"/>
  </p:sldIdLst>
  <p:sldSz cx="9144000" cy="5143500" type="screen16x9"/>
  <p:notesSz cx="6858000" cy="9144000"/>
  <p:embeddedFontLst>
    <p:embeddedFont>
      <p:font typeface="Roboto" panose="020B0604020202020204" charset="0"/>
      <p:regular r:id="rId44"/>
      <p:bold r:id="rId45"/>
      <p:italic r:id="rId46"/>
      <p:boldItalic r:id="rId47"/>
    </p:embeddedFont>
    <p:embeddedFont>
      <p:font typeface="Fira Sans Extra Condensed Medium" panose="020B0604020202020204" charset="0"/>
      <p:regular r:id="rId48"/>
      <p:bold r:id="rId49"/>
      <p:italic r:id="rId50"/>
      <p:boldItalic r:id="rId5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88" autoAdjust="0"/>
    <p:restoredTop sz="94660"/>
  </p:normalViewPr>
  <p:slideViewPr>
    <p:cSldViewPr snapToGrid="0">
      <p:cViewPr varScale="1">
        <p:scale>
          <a:sx n="97" d="100"/>
          <a:sy n="97" d="100"/>
        </p:scale>
        <p:origin x="81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4.fntdata"/><Relationship Id="rId50" Type="http://schemas.openxmlformats.org/officeDocument/2006/relationships/font" Target="fonts/font7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font" Target="fonts/font5.fntdata"/><Relationship Id="rId8" Type="http://schemas.openxmlformats.org/officeDocument/2006/relationships/slide" Target="slides/slide7.xml"/><Relationship Id="rId51" Type="http://schemas.openxmlformats.org/officeDocument/2006/relationships/font" Target="fonts/font8.fntdata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2282242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8ea72f4a77_6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8ea72f4a77_6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90346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8a22a4a535_2_8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8a22a4a535_2_8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51874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8a22a4a535_2_8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8a22a4a535_2_8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0248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8a22a4a535_2_8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8a22a4a535_2_8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22993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0280" y="536650"/>
            <a:ext cx="4918200" cy="20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0275" y="2589250"/>
            <a:ext cx="4918200" cy="53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483675" y="415425"/>
            <a:ext cx="82032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483675" y="1031250"/>
            <a:ext cx="8203200" cy="36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483675" y="415425"/>
            <a:ext cx="82032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483675" y="415425"/>
            <a:ext cx="82032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83675" y="415425"/>
            <a:ext cx="82032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83675" y="1031250"/>
            <a:ext cx="8203200" cy="36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EA4335"/>
          </p15:clr>
        </p15:guide>
        <p15:guide id="2" pos="2880">
          <p15:clr>
            <a:srgbClr val="EA4335"/>
          </p15:clr>
        </p15:guide>
        <p15:guide id="3" pos="288">
          <p15:clr>
            <a:srgbClr val="EA4335"/>
          </p15:clr>
        </p15:guide>
        <p15:guide id="4" pos="5472">
          <p15:clr>
            <a:srgbClr val="EA4335"/>
          </p15:clr>
        </p15:guide>
        <p15:guide id="5" orient="horz" pos="262">
          <p15:clr>
            <a:srgbClr val="EA4335"/>
          </p15:clr>
        </p15:guide>
        <p15:guide id="6" orient="horz" pos="2978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6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0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ctrTitle"/>
          </p:nvPr>
        </p:nvSpPr>
        <p:spPr>
          <a:xfrm>
            <a:off x="1724988" y="947725"/>
            <a:ext cx="5694000" cy="904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chemeClr val="tx1"/>
                </a:solidFill>
              </a:rPr>
              <a:t>resumen resultados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56" name="Google Shape;56;p15"/>
          <p:cNvSpPr txBox="1">
            <a:spLocks noGrp="1"/>
          </p:cNvSpPr>
          <p:nvPr>
            <p:ph type="subTitle" idx="1"/>
          </p:nvPr>
        </p:nvSpPr>
        <p:spPr>
          <a:xfrm>
            <a:off x="1724988" y="1784475"/>
            <a:ext cx="5694000" cy="3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 smtClean="0">
                <a:solidFill>
                  <a:schemeClr val="tx1"/>
                </a:solidFill>
              </a:rPr>
              <a:t>Ana C</a:t>
            </a:r>
            <a:r>
              <a:rPr lang="es-ES" sz="1700" dirty="0" smtClean="0">
                <a:solidFill>
                  <a:schemeClr val="tx1"/>
                </a:solidFill>
              </a:rPr>
              <a:t>a</a:t>
            </a:r>
            <a:r>
              <a:rPr lang="en" sz="1700" dirty="0" smtClean="0">
                <a:solidFill>
                  <a:schemeClr val="tx1"/>
                </a:solidFill>
              </a:rPr>
              <a:t>no Herranz</a:t>
            </a:r>
            <a:endParaRPr sz="1700" dirty="0">
              <a:solidFill>
                <a:schemeClr val="tx1"/>
              </a:solidFill>
            </a:endParaRPr>
          </a:p>
        </p:txBody>
      </p:sp>
      <p:grpSp>
        <p:nvGrpSpPr>
          <p:cNvPr id="57" name="Google Shape;57;p15"/>
          <p:cNvGrpSpPr/>
          <p:nvPr/>
        </p:nvGrpSpPr>
        <p:grpSpPr>
          <a:xfrm>
            <a:off x="24639" y="3630257"/>
            <a:ext cx="9020998" cy="1562983"/>
            <a:chOff x="711150" y="1559663"/>
            <a:chExt cx="7721575" cy="2350013"/>
          </a:xfrm>
        </p:grpSpPr>
        <p:sp>
          <p:nvSpPr>
            <p:cNvPr id="58" name="Google Shape;58;p15"/>
            <p:cNvSpPr/>
            <p:nvPr/>
          </p:nvSpPr>
          <p:spPr>
            <a:xfrm>
              <a:off x="711150" y="1595125"/>
              <a:ext cx="7721575" cy="2314550"/>
            </a:xfrm>
            <a:custGeom>
              <a:avLst/>
              <a:gdLst/>
              <a:ahLst/>
              <a:cxnLst/>
              <a:rect l="l" t="t" r="r" b="b"/>
              <a:pathLst>
                <a:path w="308863" h="92582" extrusionOk="0">
                  <a:moveTo>
                    <a:pt x="0" y="92445"/>
                  </a:moveTo>
                  <a:lnTo>
                    <a:pt x="24529" y="34740"/>
                  </a:lnTo>
                  <a:lnTo>
                    <a:pt x="73382" y="80857"/>
                  </a:lnTo>
                  <a:lnTo>
                    <a:pt x="97740" y="23146"/>
                  </a:lnTo>
                  <a:lnTo>
                    <a:pt x="122133" y="46302"/>
                  </a:lnTo>
                  <a:lnTo>
                    <a:pt x="146543" y="0"/>
                  </a:lnTo>
                  <a:lnTo>
                    <a:pt x="195411" y="69356"/>
                  </a:lnTo>
                  <a:lnTo>
                    <a:pt x="219734" y="57794"/>
                  </a:lnTo>
                  <a:lnTo>
                    <a:pt x="244161" y="80952"/>
                  </a:lnTo>
                  <a:lnTo>
                    <a:pt x="268621" y="11652"/>
                  </a:lnTo>
                  <a:lnTo>
                    <a:pt x="293020" y="44"/>
                  </a:lnTo>
                  <a:lnTo>
                    <a:pt x="308863" y="92582"/>
                  </a:ln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9" name="Google Shape;59;p15"/>
            <p:cNvSpPr/>
            <p:nvPr/>
          </p:nvSpPr>
          <p:spPr>
            <a:xfrm>
              <a:off x="1287538" y="2426363"/>
              <a:ext cx="71400" cy="71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15"/>
            <p:cNvSpPr/>
            <p:nvPr/>
          </p:nvSpPr>
          <p:spPr>
            <a:xfrm>
              <a:off x="1897863" y="3003575"/>
              <a:ext cx="71400" cy="71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15"/>
            <p:cNvSpPr/>
            <p:nvPr/>
          </p:nvSpPr>
          <p:spPr>
            <a:xfrm>
              <a:off x="2508163" y="3580788"/>
              <a:ext cx="71400" cy="71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15"/>
            <p:cNvSpPr/>
            <p:nvPr/>
          </p:nvSpPr>
          <p:spPr>
            <a:xfrm>
              <a:off x="3118475" y="2137738"/>
              <a:ext cx="71400" cy="71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15"/>
            <p:cNvSpPr/>
            <p:nvPr/>
          </p:nvSpPr>
          <p:spPr>
            <a:xfrm>
              <a:off x="3728788" y="2714950"/>
              <a:ext cx="71400" cy="71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15"/>
            <p:cNvSpPr/>
            <p:nvPr/>
          </p:nvSpPr>
          <p:spPr>
            <a:xfrm>
              <a:off x="4339088" y="1559938"/>
              <a:ext cx="71400" cy="71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15"/>
            <p:cNvSpPr/>
            <p:nvPr/>
          </p:nvSpPr>
          <p:spPr>
            <a:xfrm>
              <a:off x="4949400" y="2426363"/>
              <a:ext cx="71400" cy="71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15"/>
            <p:cNvSpPr/>
            <p:nvPr/>
          </p:nvSpPr>
          <p:spPr>
            <a:xfrm>
              <a:off x="5559713" y="3292175"/>
              <a:ext cx="71400" cy="71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15"/>
            <p:cNvSpPr/>
            <p:nvPr/>
          </p:nvSpPr>
          <p:spPr>
            <a:xfrm>
              <a:off x="6170025" y="3006938"/>
              <a:ext cx="71400" cy="71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15"/>
            <p:cNvSpPr/>
            <p:nvPr/>
          </p:nvSpPr>
          <p:spPr>
            <a:xfrm>
              <a:off x="6780338" y="3580775"/>
              <a:ext cx="71400" cy="71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15"/>
            <p:cNvSpPr/>
            <p:nvPr/>
          </p:nvSpPr>
          <p:spPr>
            <a:xfrm>
              <a:off x="7390650" y="1849138"/>
              <a:ext cx="71400" cy="71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15"/>
            <p:cNvSpPr/>
            <p:nvPr/>
          </p:nvSpPr>
          <p:spPr>
            <a:xfrm>
              <a:off x="8006675" y="1559663"/>
              <a:ext cx="71400" cy="71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" name="Google Shape;71;p15"/>
          <p:cNvGrpSpPr/>
          <p:nvPr/>
        </p:nvGrpSpPr>
        <p:grpSpPr>
          <a:xfrm>
            <a:off x="24639" y="2664804"/>
            <a:ext cx="9129855" cy="2519041"/>
            <a:chOff x="710288" y="2137750"/>
            <a:chExt cx="7717992" cy="1803050"/>
          </a:xfrm>
        </p:grpSpPr>
        <p:sp>
          <p:nvSpPr>
            <p:cNvPr id="72" name="Google Shape;72;p15"/>
            <p:cNvSpPr/>
            <p:nvPr/>
          </p:nvSpPr>
          <p:spPr>
            <a:xfrm>
              <a:off x="710288" y="2172905"/>
              <a:ext cx="7717992" cy="1739465"/>
            </a:xfrm>
            <a:custGeom>
              <a:avLst/>
              <a:gdLst/>
              <a:ahLst/>
              <a:cxnLst/>
              <a:rect l="l" t="t" r="r" b="b"/>
              <a:pathLst>
                <a:path w="214429" h="48295" extrusionOk="0">
                  <a:moveTo>
                    <a:pt x="0" y="48101"/>
                  </a:moveTo>
                  <a:lnTo>
                    <a:pt x="17026" y="32099"/>
                  </a:lnTo>
                  <a:lnTo>
                    <a:pt x="33957" y="40100"/>
                  </a:lnTo>
                  <a:lnTo>
                    <a:pt x="50912" y="8072"/>
                  </a:lnTo>
                  <a:lnTo>
                    <a:pt x="67890" y="48077"/>
                  </a:lnTo>
                  <a:lnTo>
                    <a:pt x="84797" y="24003"/>
                  </a:lnTo>
                  <a:lnTo>
                    <a:pt x="101751" y="32099"/>
                  </a:lnTo>
                  <a:lnTo>
                    <a:pt x="118658" y="24122"/>
                  </a:lnTo>
                  <a:lnTo>
                    <a:pt x="135613" y="8025"/>
                  </a:lnTo>
                  <a:lnTo>
                    <a:pt x="152591" y="0"/>
                  </a:lnTo>
                  <a:lnTo>
                    <a:pt x="169522" y="24098"/>
                  </a:lnTo>
                  <a:lnTo>
                    <a:pt x="186500" y="32194"/>
                  </a:lnTo>
                  <a:lnTo>
                    <a:pt x="203611" y="16042"/>
                  </a:lnTo>
                  <a:lnTo>
                    <a:pt x="214429" y="48295"/>
                  </a:lnTo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3" name="Google Shape;73;p15"/>
            <p:cNvSpPr/>
            <p:nvPr/>
          </p:nvSpPr>
          <p:spPr>
            <a:xfrm>
              <a:off x="8000975" y="2718588"/>
              <a:ext cx="71400" cy="71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5"/>
            <p:cNvSpPr/>
            <p:nvPr/>
          </p:nvSpPr>
          <p:spPr>
            <a:xfrm>
              <a:off x="7390663" y="3292175"/>
              <a:ext cx="71400" cy="71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5"/>
            <p:cNvSpPr/>
            <p:nvPr/>
          </p:nvSpPr>
          <p:spPr>
            <a:xfrm>
              <a:off x="6780325" y="3003575"/>
              <a:ext cx="71400" cy="71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5"/>
            <p:cNvSpPr/>
            <p:nvPr/>
          </p:nvSpPr>
          <p:spPr>
            <a:xfrm>
              <a:off x="6170038" y="2137750"/>
              <a:ext cx="71400" cy="71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5"/>
            <p:cNvSpPr/>
            <p:nvPr/>
          </p:nvSpPr>
          <p:spPr>
            <a:xfrm>
              <a:off x="5559700" y="2426363"/>
              <a:ext cx="71400" cy="71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5"/>
            <p:cNvSpPr/>
            <p:nvPr/>
          </p:nvSpPr>
          <p:spPr>
            <a:xfrm>
              <a:off x="4949413" y="3006938"/>
              <a:ext cx="71400" cy="71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5"/>
            <p:cNvSpPr/>
            <p:nvPr/>
          </p:nvSpPr>
          <p:spPr>
            <a:xfrm>
              <a:off x="4339088" y="3292175"/>
              <a:ext cx="71400" cy="71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5"/>
            <p:cNvSpPr/>
            <p:nvPr/>
          </p:nvSpPr>
          <p:spPr>
            <a:xfrm>
              <a:off x="3728775" y="3003575"/>
              <a:ext cx="71400" cy="71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5"/>
            <p:cNvSpPr/>
            <p:nvPr/>
          </p:nvSpPr>
          <p:spPr>
            <a:xfrm>
              <a:off x="3118475" y="3869400"/>
              <a:ext cx="71400" cy="71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5"/>
            <p:cNvSpPr/>
            <p:nvPr/>
          </p:nvSpPr>
          <p:spPr>
            <a:xfrm>
              <a:off x="2508163" y="2426363"/>
              <a:ext cx="71400" cy="71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5"/>
            <p:cNvSpPr/>
            <p:nvPr/>
          </p:nvSpPr>
          <p:spPr>
            <a:xfrm>
              <a:off x="1897850" y="3580775"/>
              <a:ext cx="71400" cy="71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5"/>
            <p:cNvSpPr/>
            <p:nvPr/>
          </p:nvSpPr>
          <p:spPr>
            <a:xfrm>
              <a:off x="1287538" y="3292188"/>
              <a:ext cx="71400" cy="71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7"/>
          <p:cNvSpPr txBox="1">
            <a:spLocks noGrp="1"/>
          </p:cNvSpPr>
          <p:nvPr>
            <p:ph type="title"/>
          </p:nvPr>
        </p:nvSpPr>
        <p:spPr>
          <a:xfrm>
            <a:off x="483675" y="415425"/>
            <a:ext cx="82032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pt-BR" dirty="0" smtClean="0"/>
              <a:t>GAM</a:t>
            </a:r>
            <a:endParaRPr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621" y="1073150"/>
            <a:ext cx="6804783" cy="357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0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7"/>
          <p:cNvSpPr txBox="1">
            <a:spLocks noGrp="1"/>
          </p:cNvSpPr>
          <p:nvPr>
            <p:ph type="title"/>
          </p:nvPr>
        </p:nvSpPr>
        <p:spPr>
          <a:xfrm>
            <a:off x="483675" y="415425"/>
            <a:ext cx="82032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pt-BR" dirty="0" smtClean="0"/>
              <a:t>GRANGER CAUSALITY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91081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7"/>
          <p:cNvSpPr txBox="1">
            <a:spLocks noGrp="1"/>
          </p:cNvSpPr>
          <p:nvPr>
            <p:ph type="title"/>
          </p:nvPr>
        </p:nvSpPr>
        <p:spPr>
          <a:xfrm>
            <a:off x="483675" y="415425"/>
            <a:ext cx="82032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pt-BR" dirty="0" smtClean="0"/>
              <a:t>BOOTSTRAP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25118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 smtClean="0"/>
              <a:t>Número links según filtro de abundancia mínima de polen </a:t>
            </a:r>
            <a:endParaRPr lang="es-ES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01" y="1453884"/>
            <a:ext cx="4227669" cy="3153975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4663" y="1453884"/>
            <a:ext cx="4232212" cy="3157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302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 smtClean="0"/>
              <a:t>Número links según</a:t>
            </a:r>
            <a:endParaRPr lang="es-ES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308" y="1498914"/>
            <a:ext cx="4176493" cy="3115796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012" y="1478744"/>
            <a:ext cx="4314511" cy="3218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311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 smtClean="0"/>
              <a:t>Redes por comunidades. Delta y condicionales</a:t>
            </a:r>
            <a:endParaRPr lang="es-ES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78" y="1201271"/>
            <a:ext cx="8785593" cy="2913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872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 smtClean="0"/>
              <a:t>Porcentaje de links negativos según umbral de p valor. 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956" y="1028980"/>
            <a:ext cx="5997178" cy="362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360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 smtClean="0"/>
              <a:t>Garba </a:t>
            </a:r>
            <a:r>
              <a:rPr lang="es-ES" dirty="0" err="1" smtClean="0"/>
              <a:t>Guracha</a:t>
            </a:r>
            <a:endParaRPr lang="es-ES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631" y="1260311"/>
            <a:ext cx="8770550" cy="2913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3845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 smtClean="0"/>
              <a:t>Garba </a:t>
            </a:r>
            <a:r>
              <a:rPr lang="es-ES" dirty="0" err="1" smtClean="0"/>
              <a:t>Guracha</a:t>
            </a:r>
            <a:endParaRPr lang="es-ES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4159" y="1095374"/>
            <a:ext cx="4251595" cy="3171825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692" y="1095375"/>
            <a:ext cx="4251595" cy="31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6922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77198" y="297438"/>
            <a:ext cx="8203200" cy="481200"/>
          </a:xfrm>
        </p:spPr>
        <p:txBody>
          <a:bodyPr/>
          <a:lstStyle/>
          <a:p>
            <a:pPr algn="ctr"/>
            <a:r>
              <a:rPr lang="es-ES" dirty="0" smtClean="0"/>
              <a:t>Basa de la mora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7947" y="1504335"/>
            <a:ext cx="4048962" cy="3020654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981" y="1440425"/>
            <a:ext cx="4220294" cy="3148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338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 smtClean="0"/>
              <a:t>Porcentaje de links negativos según umbral de p valor. </a:t>
            </a:r>
            <a:endParaRPr lang="es-ES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4888"/>
            <a:ext cx="4501593" cy="2881313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275" y="1182689"/>
            <a:ext cx="4347058" cy="278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496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 smtClean="0"/>
              <a:t>Porcentaje de links negativos según umbral de p valor. </a:t>
            </a:r>
            <a:endParaRPr lang="es-ES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743" y="1612490"/>
            <a:ext cx="4217862" cy="2548578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275" y="1486120"/>
            <a:ext cx="4376614" cy="280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457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Temporalidad Basa de la Mora</a:t>
            </a:r>
            <a:endParaRPr lang="es-ES" dirty="0"/>
          </a:p>
        </p:txBody>
      </p:sp>
      <p:sp>
        <p:nvSpPr>
          <p:cNvPr id="5" name="CuadroTexto 4"/>
          <p:cNvSpPr txBox="1"/>
          <p:nvPr/>
        </p:nvSpPr>
        <p:spPr>
          <a:xfrm>
            <a:off x="6572567" y="1060162"/>
            <a:ext cx="17865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 smtClean="0"/>
              <a:t>VENTANA 1 - 2</a:t>
            </a:r>
          </a:p>
          <a:p>
            <a:endParaRPr lang="es-ES" sz="1200" dirty="0" smtClean="0"/>
          </a:p>
          <a:p>
            <a:r>
              <a:rPr lang="es-ES" sz="1200" dirty="0" err="1" smtClean="0"/>
              <a:t>D+s</a:t>
            </a:r>
            <a:r>
              <a:rPr lang="es-ES" sz="1200" dirty="0" smtClean="0"/>
              <a:t> = 0.20</a:t>
            </a:r>
          </a:p>
          <a:p>
            <a:r>
              <a:rPr lang="es-ES" sz="1200" dirty="0" err="1" smtClean="0"/>
              <a:t>D+no_s</a:t>
            </a:r>
            <a:r>
              <a:rPr lang="es-ES" sz="1200" dirty="0" smtClean="0"/>
              <a:t> = 0.40</a:t>
            </a:r>
          </a:p>
          <a:p>
            <a:r>
              <a:rPr lang="es-ES" sz="1200" dirty="0" err="1" smtClean="0"/>
              <a:t>No_d+no_s</a:t>
            </a:r>
            <a:r>
              <a:rPr lang="es-ES" sz="1200" dirty="0" smtClean="0"/>
              <a:t> = 0.62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6572567" y="2349014"/>
            <a:ext cx="17865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 smtClean="0"/>
              <a:t>VENTANA 2 - 3</a:t>
            </a:r>
          </a:p>
          <a:p>
            <a:endParaRPr lang="es-ES" sz="1200" dirty="0" smtClean="0"/>
          </a:p>
          <a:p>
            <a:r>
              <a:rPr lang="es-ES" sz="1200" dirty="0" err="1" smtClean="0"/>
              <a:t>D+s</a:t>
            </a:r>
            <a:r>
              <a:rPr lang="es-ES" sz="1200" dirty="0" smtClean="0"/>
              <a:t> = 0.17</a:t>
            </a:r>
          </a:p>
          <a:p>
            <a:r>
              <a:rPr lang="es-ES" sz="1200" dirty="0" err="1" smtClean="0"/>
              <a:t>D+no_s</a:t>
            </a:r>
            <a:r>
              <a:rPr lang="es-ES" sz="1200" dirty="0" smtClean="0"/>
              <a:t> = 0.43</a:t>
            </a:r>
          </a:p>
          <a:p>
            <a:r>
              <a:rPr lang="es-ES" sz="1200" dirty="0" err="1" smtClean="0"/>
              <a:t>No_d+no_s</a:t>
            </a:r>
            <a:r>
              <a:rPr lang="es-ES" sz="1200" dirty="0" smtClean="0"/>
              <a:t> = 0.61</a:t>
            </a: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479" y="1253326"/>
            <a:ext cx="5170531" cy="3207038"/>
          </a:xfrm>
          <a:prstGeom prst="rect">
            <a:avLst/>
          </a:prstGeom>
        </p:spPr>
      </p:pic>
      <p:sp>
        <p:nvSpPr>
          <p:cNvPr id="10" name="CuadroTexto 9"/>
          <p:cNvSpPr txBox="1"/>
          <p:nvPr/>
        </p:nvSpPr>
        <p:spPr>
          <a:xfrm>
            <a:off x="6572567" y="3572832"/>
            <a:ext cx="17865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 smtClean="0"/>
              <a:t>VENTANA 1 - 3</a:t>
            </a:r>
          </a:p>
          <a:p>
            <a:endParaRPr lang="es-ES" sz="1200" dirty="0" smtClean="0"/>
          </a:p>
          <a:p>
            <a:r>
              <a:rPr lang="es-ES" sz="1200" dirty="0" err="1" smtClean="0"/>
              <a:t>D+s</a:t>
            </a:r>
            <a:r>
              <a:rPr lang="es-ES" sz="1200" dirty="0" smtClean="0"/>
              <a:t> = 0.12</a:t>
            </a:r>
          </a:p>
          <a:p>
            <a:r>
              <a:rPr lang="es-ES" sz="1200" dirty="0" err="1" smtClean="0"/>
              <a:t>D+no_s</a:t>
            </a:r>
            <a:r>
              <a:rPr lang="es-ES" sz="1200" dirty="0" smtClean="0"/>
              <a:t> = 0.25</a:t>
            </a:r>
          </a:p>
          <a:p>
            <a:r>
              <a:rPr lang="es-ES" sz="1200" dirty="0" err="1" smtClean="0"/>
              <a:t>No_d+no_s</a:t>
            </a:r>
            <a:r>
              <a:rPr lang="es-ES" sz="1200" dirty="0" smtClean="0"/>
              <a:t> = 0.46</a:t>
            </a:r>
          </a:p>
        </p:txBody>
      </p:sp>
    </p:spTree>
    <p:extLst>
      <p:ext uri="{BB962C8B-B14F-4D97-AF65-F5344CB8AC3E}">
        <p14:creationId xmlns:p14="http://schemas.microsoft.com/office/powerpoint/2010/main" val="27921783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Temporalidad Basa de la Mora </a:t>
            </a:r>
            <a:r>
              <a:rPr lang="es-ES" dirty="0" err="1" smtClean="0"/>
              <a:t>norm</a:t>
            </a:r>
            <a:endParaRPr lang="es-ES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5099" y="1014101"/>
            <a:ext cx="6077465" cy="3769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6243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Temporalidad GG</a:t>
            </a:r>
            <a:endParaRPr lang="es-ES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21" y="1465791"/>
            <a:ext cx="4380054" cy="2716742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275" y="110153"/>
            <a:ext cx="3862907" cy="239598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0612" y="2506133"/>
            <a:ext cx="3611370" cy="2239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3026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Temporalidad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464" y="2885656"/>
            <a:ext cx="7166623" cy="2041943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186" y="896625"/>
            <a:ext cx="7249160" cy="2065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7784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Temporalidad GG normalizada</a:t>
            </a:r>
            <a:endParaRPr lang="es-ES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08" y="1608667"/>
            <a:ext cx="8738287" cy="2013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4702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Temporalidad</a:t>
            </a:r>
            <a:endParaRPr lang="es-ES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980" y="3088064"/>
            <a:ext cx="7847554" cy="2055436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672" y="896625"/>
            <a:ext cx="8188171" cy="2177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285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Temporalidad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447800"/>
            <a:ext cx="4265881" cy="2645926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25" y="1447800"/>
            <a:ext cx="4269144" cy="264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8597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Reciprocidad</a:t>
            </a:r>
            <a:endParaRPr lang="es-ES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475" y="978322"/>
            <a:ext cx="3271458" cy="2029132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640" y="3007454"/>
            <a:ext cx="2738160" cy="1698352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5275" y="739847"/>
            <a:ext cx="3389938" cy="2102620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0485" y="2834847"/>
            <a:ext cx="3294728" cy="2043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1170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Reciprocidad GG normalizada</a:t>
            </a:r>
            <a:endParaRPr lang="es-ES" dirty="0"/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109" y="1210546"/>
            <a:ext cx="4683170" cy="2581275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695" y="1210546"/>
            <a:ext cx="4018962" cy="2492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9246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Reciprocidad Basa Mora normalizada</a:t>
            </a:r>
            <a:endParaRPr lang="es-ES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5870" y="1566333"/>
            <a:ext cx="4736933" cy="2610908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" y="1566333"/>
            <a:ext cx="3990975" cy="2475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9896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Reciprocidad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633" y="1092758"/>
            <a:ext cx="7603284" cy="3589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3300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Reciprocidad</a:t>
            </a:r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798" y="1408702"/>
            <a:ext cx="7400420" cy="2340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5363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Reciprocidad</a:t>
            </a:r>
            <a:endParaRPr lang="es-ES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338" y="2940050"/>
            <a:ext cx="7635873" cy="2036233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674" y="796290"/>
            <a:ext cx="8039100" cy="2143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5961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Reciprocidad</a:t>
            </a:r>
            <a:endParaRPr lang="es-ES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72" y="1507545"/>
            <a:ext cx="4354828" cy="2400299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33874"/>
            <a:ext cx="4483279" cy="2471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7924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 smtClean="0"/>
              <a:t>ESPECIFICIDAD</a:t>
            </a:r>
            <a:endParaRPr lang="es-ES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35" y="1430134"/>
            <a:ext cx="4548040" cy="2820936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4256" y="1430134"/>
            <a:ext cx="4579744" cy="2840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7835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 smtClean="0"/>
              <a:t>K_in</a:t>
            </a:r>
            <a:r>
              <a:rPr lang="es-ES" dirty="0" smtClean="0"/>
              <a:t> </a:t>
            </a:r>
            <a:r>
              <a:rPr lang="es-ES" dirty="0" err="1" smtClean="0"/>
              <a:t>k_out</a:t>
            </a:r>
            <a:endParaRPr lang="es-ES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2933" y="207087"/>
            <a:ext cx="5816675" cy="4801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1424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2"/>
          <a:srcRect b="14403"/>
          <a:stretch/>
        </p:blipFill>
        <p:spPr>
          <a:xfrm>
            <a:off x="848480" y="97094"/>
            <a:ext cx="6633868" cy="2252815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3"/>
          <a:srcRect b="15435"/>
          <a:stretch/>
        </p:blipFill>
        <p:spPr>
          <a:xfrm>
            <a:off x="1593132" y="2670541"/>
            <a:ext cx="5800725" cy="1999782"/>
          </a:xfrm>
          <a:prstGeom prst="rect">
            <a:avLst/>
          </a:prstGeom>
        </p:spPr>
      </p:pic>
      <p:cxnSp>
        <p:nvCxnSpPr>
          <p:cNvPr id="6" name="Conector curvado 5"/>
          <p:cNvCxnSpPr/>
          <p:nvPr/>
        </p:nvCxnSpPr>
        <p:spPr>
          <a:xfrm flipV="1">
            <a:off x="3097161" y="2359742"/>
            <a:ext cx="294968" cy="235974"/>
          </a:xfrm>
          <a:prstGeom prst="curvedConnector3">
            <a:avLst>
              <a:gd name="adj1" fmla="val -333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curvado 13"/>
          <p:cNvCxnSpPr/>
          <p:nvPr/>
        </p:nvCxnSpPr>
        <p:spPr>
          <a:xfrm flipV="1">
            <a:off x="3829664" y="2365869"/>
            <a:ext cx="294968" cy="235974"/>
          </a:xfrm>
          <a:prstGeom prst="curvedConnector3">
            <a:avLst>
              <a:gd name="adj1" fmla="val -3333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curvado 14"/>
          <p:cNvCxnSpPr/>
          <p:nvPr/>
        </p:nvCxnSpPr>
        <p:spPr>
          <a:xfrm rot="10800000" flipV="1">
            <a:off x="3878825" y="2437568"/>
            <a:ext cx="334299" cy="201687"/>
          </a:xfrm>
          <a:prstGeom prst="curvedConnector3">
            <a:avLst>
              <a:gd name="adj1" fmla="val 1764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curvado 21"/>
          <p:cNvCxnSpPr/>
          <p:nvPr/>
        </p:nvCxnSpPr>
        <p:spPr>
          <a:xfrm flipV="1">
            <a:off x="4532674" y="2370789"/>
            <a:ext cx="294968" cy="235974"/>
          </a:xfrm>
          <a:prstGeom prst="curvedConnector3">
            <a:avLst>
              <a:gd name="adj1" fmla="val -333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curvado 22"/>
          <p:cNvCxnSpPr/>
          <p:nvPr/>
        </p:nvCxnSpPr>
        <p:spPr>
          <a:xfrm rot="10800000" flipV="1">
            <a:off x="4581835" y="2442488"/>
            <a:ext cx="334299" cy="201687"/>
          </a:xfrm>
          <a:prstGeom prst="curvedConnector3">
            <a:avLst>
              <a:gd name="adj1" fmla="val 1764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curvado 23"/>
          <p:cNvCxnSpPr/>
          <p:nvPr/>
        </p:nvCxnSpPr>
        <p:spPr>
          <a:xfrm flipV="1">
            <a:off x="5314338" y="2346213"/>
            <a:ext cx="294968" cy="235974"/>
          </a:xfrm>
          <a:prstGeom prst="curvedConnector3">
            <a:avLst>
              <a:gd name="adj1" fmla="val -333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curvado 24"/>
          <p:cNvCxnSpPr/>
          <p:nvPr/>
        </p:nvCxnSpPr>
        <p:spPr>
          <a:xfrm rot="10800000" flipV="1">
            <a:off x="5363499" y="2417912"/>
            <a:ext cx="334299" cy="201687"/>
          </a:xfrm>
          <a:prstGeom prst="curvedConnector3">
            <a:avLst>
              <a:gd name="adj1" fmla="val 1764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curvado 25"/>
          <p:cNvCxnSpPr/>
          <p:nvPr/>
        </p:nvCxnSpPr>
        <p:spPr>
          <a:xfrm flipV="1">
            <a:off x="6027176" y="2351133"/>
            <a:ext cx="294968" cy="235974"/>
          </a:xfrm>
          <a:prstGeom prst="curvedConnector3">
            <a:avLst>
              <a:gd name="adj1" fmla="val -333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curvado 26"/>
          <p:cNvCxnSpPr/>
          <p:nvPr/>
        </p:nvCxnSpPr>
        <p:spPr>
          <a:xfrm rot="10800000" flipV="1">
            <a:off x="6076337" y="2422832"/>
            <a:ext cx="334299" cy="201687"/>
          </a:xfrm>
          <a:prstGeom prst="curvedConnector3">
            <a:avLst>
              <a:gd name="adj1" fmla="val 1764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curvado 27"/>
          <p:cNvCxnSpPr/>
          <p:nvPr/>
        </p:nvCxnSpPr>
        <p:spPr>
          <a:xfrm flipV="1">
            <a:off x="6059129" y="2394681"/>
            <a:ext cx="294968" cy="235974"/>
          </a:xfrm>
          <a:prstGeom prst="curvedConnector3">
            <a:avLst>
              <a:gd name="adj1" fmla="val -3333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curvado 28"/>
          <p:cNvCxnSpPr/>
          <p:nvPr/>
        </p:nvCxnSpPr>
        <p:spPr>
          <a:xfrm rot="10800000" flipV="1">
            <a:off x="6108290" y="2466380"/>
            <a:ext cx="334299" cy="201687"/>
          </a:xfrm>
          <a:prstGeom prst="curvedConnector3">
            <a:avLst>
              <a:gd name="adj1" fmla="val 17647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curvado 29"/>
          <p:cNvCxnSpPr/>
          <p:nvPr/>
        </p:nvCxnSpPr>
        <p:spPr>
          <a:xfrm flipV="1">
            <a:off x="5346293" y="2389769"/>
            <a:ext cx="294968" cy="235974"/>
          </a:xfrm>
          <a:prstGeom prst="curvedConnector3">
            <a:avLst>
              <a:gd name="adj1" fmla="val -3333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curvado 30"/>
          <p:cNvCxnSpPr/>
          <p:nvPr/>
        </p:nvCxnSpPr>
        <p:spPr>
          <a:xfrm flipV="1">
            <a:off x="3092249" y="4753898"/>
            <a:ext cx="294968" cy="235974"/>
          </a:xfrm>
          <a:prstGeom prst="curvedConnector3">
            <a:avLst>
              <a:gd name="adj1" fmla="val -333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curvado 31"/>
          <p:cNvCxnSpPr/>
          <p:nvPr/>
        </p:nvCxnSpPr>
        <p:spPr>
          <a:xfrm flipV="1">
            <a:off x="3824752" y="4760025"/>
            <a:ext cx="294968" cy="235974"/>
          </a:xfrm>
          <a:prstGeom prst="curvedConnector3">
            <a:avLst>
              <a:gd name="adj1" fmla="val -3333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curvado 32"/>
          <p:cNvCxnSpPr/>
          <p:nvPr/>
        </p:nvCxnSpPr>
        <p:spPr>
          <a:xfrm rot="10800000" flipV="1">
            <a:off x="3873913" y="4831724"/>
            <a:ext cx="334299" cy="201687"/>
          </a:xfrm>
          <a:prstGeom prst="curvedConnector3">
            <a:avLst>
              <a:gd name="adj1" fmla="val 1764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curvado 33"/>
          <p:cNvCxnSpPr/>
          <p:nvPr/>
        </p:nvCxnSpPr>
        <p:spPr>
          <a:xfrm flipV="1">
            <a:off x="4527762" y="4764945"/>
            <a:ext cx="294968" cy="235974"/>
          </a:xfrm>
          <a:prstGeom prst="curvedConnector3">
            <a:avLst>
              <a:gd name="adj1" fmla="val -333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curvado 34"/>
          <p:cNvCxnSpPr/>
          <p:nvPr/>
        </p:nvCxnSpPr>
        <p:spPr>
          <a:xfrm rot="10800000" flipV="1">
            <a:off x="4576923" y="4836644"/>
            <a:ext cx="334299" cy="201687"/>
          </a:xfrm>
          <a:prstGeom prst="curvedConnector3">
            <a:avLst>
              <a:gd name="adj1" fmla="val 1764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curvado 35"/>
          <p:cNvCxnSpPr/>
          <p:nvPr/>
        </p:nvCxnSpPr>
        <p:spPr>
          <a:xfrm flipV="1">
            <a:off x="5309426" y="4740369"/>
            <a:ext cx="294968" cy="235974"/>
          </a:xfrm>
          <a:prstGeom prst="curvedConnector3">
            <a:avLst>
              <a:gd name="adj1" fmla="val -333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curvado 36"/>
          <p:cNvCxnSpPr/>
          <p:nvPr/>
        </p:nvCxnSpPr>
        <p:spPr>
          <a:xfrm rot="10800000" flipV="1">
            <a:off x="5358587" y="4812068"/>
            <a:ext cx="334299" cy="201687"/>
          </a:xfrm>
          <a:prstGeom prst="curvedConnector3">
            <a:avLst>
              <a:gd name="adj1" fmla="val 1764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curvado 37"/>
          <p:cNvCxnSpPr/>
          <p:nvPr/>
        </p:nvCxnSpPr>
        <p:spPr>
          <a:xfrm flipV="1">
            <a:off x="6022264" y="4745289"/>
            <a:ext cx="294968" cy="235974"/>
          </a:xfrm>
          <a:prstGeom prst="curvedConnector3">
            <a:avLst>
              <a:gd name="adj1" fmla="val -333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curvado 38"/>
          <p:cNvCxnSpPr/>
          <p:nvPr/>
        </p:nvCxnSpPr>
        <p:spPr>
          <a:xfrm rot="10800000" flipV="1">
            <a:off x="6071425" y="4816988"/>
            <a:ext cx="334299" cy="201687"/>
          </a:xfrm>
          <a:prstGeom prst="curvedConnector3">
            <a:avLst>
              <a:gd name="adj1" fmla="val 1764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curvado 39"/>
          <p:cNvCxnSpPr/>
          <p:nvPr/>
        </p:nvCxnSpPr>
        <p:spPr>
          <a:xfrm flipV="1">
            <a:off x="6054217" y="4788837"/>
            <a:ext cx="294968" cy="235974"/>
          </a:xfrm>
          <a:prstGeom prst="curvedConnector3">
            <a:avLst>
              <a:gd name="adj1" fmla="val -3333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curvado 40"/>
          <p:cNvCxnSpPr/>
          <p:nvPr/>
        </p:nvCxnSpPr>
        <p:spPr>
          <a:xfrm rot="10800000" flipV="1">
            <a:off x="6103378" y="4860536"/>
            <a:ext cx="334299" cy="201687"/>
          </a:xfrm>
          <a:prstGeom prst="curvedConnector3">
            <a:avLst>
              <a:gd name="adj1" fmla="val 17647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curvado 41"/>
          <p:cNvCxnSpPr/>
          <p:nvPr/>
        </p:nvCxnSpPr>
        <p:spPr>
          <a:xfrm flipV="1">
            <a:off x="5341381" y="4783925"/>
            <a:ext cx="294968" cy="235974"/>
          </a:xfrm>
          <a:prstGeom prst="curvedConnector3">
            <a:avLst>
              <a:gd name="adj1" fmla="val -3333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86283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Imagen 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4671"/>
            <a:ext cx="4649228" cy="2604339"/>
          </a:xfrm>
          <a:prstGeom prst="rect">
            <a:avLst/>
          </a:prstGeom>
        </p:spPr>
      </p:pic>
      <p:pic>
        <p:nvPicPr>
          <p:cNvPr id="66" name="Imagen 6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4245" y="1484670"/>
            <a:ext cx="4659755" cy="2604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0710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Balance (Garba </a:t>
            </a:r>
            <a:r>
              <a:rPr lang="es-ES" dirty="0" err="1" smtClean="0"/>
              <a:t>Guracha</a:t>
            </a:r>
            <a:r>
              <a:rPr lang="es-ES" dirty="0" smtClean="0"/>
              <a:t> con pc)</a:t>
            </a:r>
            <a:endParaRPr lang="es-ES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093" y="960969"/>
            <a:ext cx="3923240" cy="3923240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1598" y="1489166"/>
            <a:ext cx="3568744" cy="268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5788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Balance (Garba </a:t>
            </a:r>
            <a:r>
              <a:rPr lang="es-ES" dirty="0" err="1" smtClean="0"/>
              <a:t>Guracha</a:t>
            </a:r>
            <a:r>
              <a:rPr lang="es-ES" dirty="0" smtClean="0"/>
              <a:t> no pc)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1333" y="1210733"/>
            <a:ext cx="4265200" cy="3205692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811" y="1168128"/>
            <a:ext cx="3248297" cy="324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6297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 err="1" smtClean="0"/>
              <a:t>Tramacastilla</a:t>
            </a:r>
            <a:endParaRPr lang="es-ES" dirty="0"/>
          </a:p>
        </p:txBody>
      </p:sp>
      <p:sp>
        <p:nvSpPr>
          <p:cNvPr id="3" name="CuadroTexto 2"/>
          <p:cNvSpPr txBox="1"/>
          <p:nvPr/>
        </p:nvSpPr>
        <p:spPr>
          <a:xfrm>
            <a:off x="373981" y="1770869"/>
            <a:ext cx="178651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VENTANA 1</a:t>
            </a:r>
          </a:p>
          <a:p>
            <a:endParaRPr lang="es-ES" dirty="0" smtClean="0"/>
          </a:p>
          <a:p>
            <a:r>
              <a:rPr lang="es-ES" dirty="0" smtClean="0"/>
              <a:t>11269-</a:t>
            </a:r>
            <a:r>
              <a:rPr lang="es-ES" dirty="0"/>
              <a:t>5078</a:t>
            </a:r>
            <a:r>
              <a:rPr lang="es-ES" dirty="0" smtClean="0"/>
              <a:t> (79-32) 49 puntos</a:t>
            </a:r>
          </a:p>
          <a:p>
            <a:endParaRPr lang="es-ES" dirty="0"/>
          </a:p>
          <a:p>
            <a:r>
              <a:rPr lang="es-ES" dirty="0" smtClean="0"/>
              <a:t>34/40 especies</a:t>
            </a:r>
          </a:p>
          <a:p>
            <a:endParaRPr lang="es-ES" dirty="0"/>
          </a:p>
          <a:p>
            <a:r>
              <a:rPr lang="es-ES" dirty="0" smtClean="0"/>
              <a:t>60 significativos</a:t>
            </a:r>
          </a:p>
          <a:p>
            <a:r>
              <a:rPr lang="es-ES" dirty="0" smtClean="0"/>
              <a:t>6 negativos (10%)</a:t>
            </a:r>
            <a:endParaRPr lang="es-ES" dirty="0"/>
          </a:p>
        </p:txBody>
      </p:sp>
      <p:sp>
        <p:nvSpPr>
          <p:cNvPr id="7" name="CuadroTexto 6"/>
          <p:cNvSpPr txBox="1"/>
          <p:nvPr/>
        </p:nvSpPr>
        <p:spPr>
          <a:xfrm>
            <a:off x="7167185" y="1663146"/>
            <a:ext cx="151969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VENTANA 2</a:t>
            </a:r>
          </a:p>
          <a:p>
            <a:endParaRPr lang="es-ES" dirty="0"/>
          </a:p>
          <a:p>
            <a:r>
              <a:rPr lang="es-ES" dirty="0" smtClean="0"/>
              <a:t>4946-863 (31:0) 32 puntos</a:t>
            </a:r>
          </a:p>
          <a:p>
            <a:endParaRPr lang="es-ES" dirty="0"/>
          </a:p>
          <a:p>
            <a:r>
              <a:rPr lang="es-ES" dirty="0" smtClean="0"/>
              <a:t>34/40 especies</a:t>
            </a:r>
          </a:p>
          <a:p>
            <a:endParaRPr lang="es-ES" dirty="0"/>
          </a:p>
          <a:p>
            <a:r>
              <a:rPr lang="es-ES" dirty="0" smtClean="0"/>
              <a:t>32 significativos</a:t>
            </a:r>
          </a:p>
          <a:p>
            <a:r>
              <a:rPr lang="es-ES" dirty="0"/>
              <a:t>4</a:t>
            </a:r>
            <a:r>
              <a:rPr lang="es-ES" dirty="0" smtClean="0"/>
              <a:t> negativos (12.5%)</a:t>
            </a:r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495" y="1323302"/>
            <a:ext cx="4788893" cy="3023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840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 err="1" smtClean="0"/>
              <a:t>Tramacastilla</a:t>
            </a:r>
            <a:endParaRPr lang="es-ES" dirty="0"/>
          </a:p>
        </p:txBody>
      </p:sp>
      <p:sp>
        <p:nvSpPr>
          <p:cNvPr id="3" name="CuadroTexto 2"/>
          <p:cNvSpPr txBox="1"/>
          <p:nvPr/>
        </p:nvSpPr>
        <p:spPr>
          <a:xfrm>
            <a:off x="373981" y="1770869"/>
            <a:ext cx="178651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VENTANA 1</a:t>
            </a:r>
          </a:p>
          <a:p>
            <a:endParaRPr lang="es-ES" dirty="0" smtClean="0"/>
          </a:p>
          <a:p>
            <a:r>
              <a:rPr lang="es-ES" dirty="0" smtClean="0"/>
              <a:t>11269-</a:t>
            </a:r>
            <a:r>
              <a:rPr lang="es-ES" dirty="0"/>
              <a:t>5078</a:t>
            </a:r>
            <a:r>
              <a:rPr lang="es-ES" dirty="0" smtClean="0"/>
              <a:t> (79-32) 39 puntos</a:t>
            </a:r>
          </a:p>
          <a:p>
            <a:endParaRPr lang="es-ES" dirty="0"/>
          </a:p>
          <a:p>
            <a:r>
              <a:rPr lang="es-ES" dirty="0" smtClean="0"/>
              <a:t>37/40 especies</a:t>
            </a:r>
          </a:p>
          <a:p>
            <a:endParaRPr lang="es-ES" dirty="0"/>
          </a:p>
          <a:p>
            <a:r>
              <a:rPr lang="es-ES" dirty="0" smtClean="0"/>
              <a:t>55 significativos</a:t>
            </a:r>
          </a:p>
          <a:p>
            <a:r>
              <a:rPr lang="es-ES" dirty="0"/>
              <a:t>7</a:t>
            </a:r>
            <a:r>
              <a:rPr lang="es-ES" dirty="0" smtClean="0"/>
              <a:t> negativos (12.73%)</a:t>
            </a:r>
            <a:endParaRPr lang="es-ES" dirty="0"/>
          </a:p>
        </p:txBody>
      </p:sp>
      <p:sp>
        <p:nvSpPr>
          <p:cNvPr id="7" name="CuadroTexto 6"/>
          <p:cNvSpPr txBox="1"/>
          <p:nvPr/>
        </p:nvSpPr>
        <p:spPr>
          <a:xfrm>
            <a:off x="7167185" y="1663146"/>
            <a:ext cx="151969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VENTANA 2</a:t>
            </a:r>
          </a:p>
          <a:p>
            <a:endParaRPr lang="es-ES" dirty="0"/>
          </a:p>
          <a:p>
            <a:r>
              <a:rPr lang="es-ES" dirty="0" smtClean="0"/>
              <a:t>4946-863 (31:0) 42 puntos</a:t>
            </a:r>
          </a:p>
          <a:p>
            <a:endParaRPr lang="es-ES" dirty="0"/>
          </a:p>
          <a:p>
            <a:r>
              <a:rPr lang="es-ES" dirty="0" smtClean="0"/>
              <a:t>37/40 especies</a:t>
            </a:r>
          </a:p>
          <a:p>
            <a:endParaRPr lang="es-ES" dirty="0"/>
          </a:p>
          <a:p>
            <a:r>
              <a:rPr lang="es-ES" dirty="0" smtClean="0"/>
              <a:t>36 significativos</a:t>
            </a:r>
          </a:p>
          <a:p>
            <a:r>
              <a:rPr lang="es-ES" dirty="0" smtClean="0"/>
              <a:t>11 negativos (30.56%)</a:t>
            </a:r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495" y="1323302"/>
            <a:ext cx="4788893" cy="3023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70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Balance local y SC</a:t>
            </a:r>
            <a:endParaRPr lang="es-ES" dirty="0"/>
          </a:p>
        </p:txBody>
      </p:sp>
      <p:sp>
        <p:nvSpPr>
          <p:cNvPr id="3" name="CuadroTexto 2"/>
          <p:cNvSpPr txBox="1"/>
          <p:nvPr/>
        </p:nvSpPr>
        <p:spPr>
          <a:xfrm>
            <a:off x="483675" y="901279"/>
            <a:ext cx="17865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 smtClean="0"/>
              <a:t>VENTANA 1</a:t>
            </a:r>
          </a:p>
          <a:p>
            <a:endParaRPr lang="es-ES" sz="1200" dirty="0" smtClean="0"/>
          </a:p>
          <a:p>
            <a:r>
              <a:rPr lang="es-ES" sz="1200" dirty="0" err="1" smtClean="0"/>
              <a:t>K_g</a:t>
            </a:r>
            <a:r>
              <a:rPr lang="es-ES" sz="1200" dirty="0" smtClean="0"/>
              <a:t>= 0.71</a:t>
            </a:r>
          </a:p>
          <a:p>
            <a:r>
              <a:rPr lang="es-ES" sz="1200" dirty="0" err="1" smtClean="0"/>
              <a:t>K_m</a:t>
            </a:r>
            <a:r>
              <a:rPr lang="es-ES" sz="1200" dirty="0" smtClean="0"/>
              <a:t>=0.68</a:t>
            </a:r>
          </a:p>
          <a:p>
            <a:r>
              <a:rPr lang="es-ES" sz="1200" dirty="0" err="1" smtClean="0"/>
              <a:t>Balanced</a:t>
            </a:r>
            <a:r>
              <a:rPr lang="es-ES" sz="1200" dirty="0" smtClean="0"/>
              <a:t> </a:t>
            </a:r>
            <a:r>
              <a:rPr lang="es-ES" sz="1200" dirty="0" err="1" smtClean="0"/>
              <a:t>core</a:t>
            </a:r>
            <a:endParaRPr lang="es-ES" sz="1200" dirty="0" smtClean="0"/>
          </a:p>
        </p:txBody>
      </p:sp>
      <p:sp>
        <p:nvSpPr>
          <p:cNvPr id="4" name="CuadroTexto 3"/>
          <p:cNvSpPr txBox="1"/>
          <p:nvPr/>
        </p:nvSpPr>
        <p:spPr>
          <a:xfrm>
            <a:off x="3692018" y="918914"/>
            <a:ext cx="17865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 smtClean="0"/>
              <a:t>VENTANA 2</a:t>
            </a:r>
          </a:p>
          <a:p>
            <a:endParaRPr lang="es-ES" sz="1200" dirty="0" smtClean="0"/>
          </a:p>
          <a:p>
            <a:r>
              <a:rPr lang="es-ES" sz="1200" dirty="0" err="1" smtClean="0"/>
              <a:t>K_g</a:t>
            </a:r>
            <a:r>
              <a:rPr lang="es-ES" sz="1200" dirty="0" smtClean="0"/>
              <a:t>= 0.71</a:t>
            </a:r>
          </a:p>
          <a:p>
            <a:r>
              <a:rPr lang="es-ES" sz="1200" dirty="0" err="1" smtClean="0"/>
              <a:t>K_m</a:t>
            </a:r>
            <a:r>
              <a:rPr lang="es-ES" sz="1200" dirty="0" smtClean="0"/>
              <a:t>=0.81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6723110" y="901279"/>
            <a:ext cx="17865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 smtClean="0"/>
              <a:t>VENTANA 3</a:t>
            </a:r>
          </a:p>
          <a:p>
            <a:endParaRPr lang="es-ES" sz="1200" dirty="0" smtClean="0"/>
          </a:p>
          <a:p>
            <a:r>
              <a:rPr lang="es-ES" sz="1200" dirty="0" err="1" smtClean="0"/>
              <a:t>K_g</a:t>
            </a:r>
            <a:r>
              <a:rPr lang="es-ES" sz="1200" dirty="0" smtClean="0"/>
              <a:t>= 0.65</a:t>
            </a:r>
          </a:p>
          <a:p>
            <a:r>
              <a:rPr lang="es-ES" sz="1200" dirty="0" err="1" smtClean="0"/>
              <a:t>K_m</a:t>
            </a:r>
            <a:r>
              <a:rPr lang="es-ES" sz="1200" dirty="0" smtClean="0"/>
              <a:t>=0.84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192" y="1917542"/>
            <a:ext cx="2625017" cy="2000013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8801" y="1912823"/>
            <a:ext cx="2631211" cy="2004732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0605" y="1912823"/>
            <a:ext cx="2631211" cy="2004732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6371" y="3738653"/>
            <a:ext cx="5316070" cy="1413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467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Balance local y SC</a:t>
            </a:r>
            <a:endParaRPr lang="es-ES" dirty="0"/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675" y="1021977"/>
            <a:ext cx="7969653" cy="3971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116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 smtClean="0"/>
              <a:t>Balance local y SC</a:t>
            </a:r>
            <a:endParaRPr lang="es-ES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30" y="415425"/>
            <a:ext cx="3853423" cy="210186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8406" y="1981961"/>
            <a:ext cx="3813737" cy="2080220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6437" y="2856939"/>
            <a:ext cx="3736882" cy="2038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944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Balance local y SC</a:t>
            </a:r>
            <a:endParaRPr lang="es-ES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214" y="972111"/>
            <a:ext cx="4904216" cy="3662642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6350903" y="1134447"/>
            <a:ext cx="17865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 smtClean="0"/>
              <a:t>VENTANA 1</a:t>
            </a:r>
          </a:p>
          <a:p>
            <a:endParaRPr lang="es-ES" sz="1200" dirty="0" smtClean="0"/>
          </a:p>
          <a:p>
            <a:r>
              <a:rPr lang="es-ES" sz="1200" dirty="0" err="1" smtClean="0"/>
              <a:t>K_g</a:t>
            </a:r>
            <a:r>
              <a:rPr lang="es-ES" sz="1200" dirty="0" smtClean="0"/>
              <a:t>= 0.2</a:t>
            </a:r>
          </a:p>
          <a:p>
            <a:r>
              <a:rPr lang="es-ES" sz="1200" dirty="0" err="1" smtClean="0"/>
              <a:t>K_m</a:t>
            </a:r>
            <a:r>
              <a:rPr lang="es-ES" sz="1200" dirty="0" smtClean="0"/>
              <a:t>=0.2</a:t>
            </a:r>
          </a:p>
        </p:txBody>
      </p:sp>
      <p:sp>
        <p:nvSpPr>
          <p:cNvPr id="6" name="CuadroTexto 5"/>
          <p:cNvSpPr txBox="1"/>
          <p:nvPr/>
        </p:nvSpPr>
        <p:spPr>
          <a:xfrm>
            <a:off x="6350903" y="2352073"/>
            <a:ext cx="17865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 smtClean="0"/>
              <a:t>VENTANA 2</a:t>
            </a:r>
          </a:p>
          <a:p>
            <a:endParaRPr lang="es-ES" sz="1200" dirty="0" smtClean="0"/>
          </a:p>
          <a:p>
            <a:r>
              <a:rPr lang="es-ES" sz="1200" dirty="0" err="1" smtClean="0"/>
              <a:t>K_g</a:t>
            </a:r>
            <a:r>
              <a:rPr lang="es-ES" sz="1200" dirty="0" smtClean="0"/>
              <a:t>= 0.40</a:t>
            </a:r>
          </a:p>
          <a:p>
            <a:r>
              <a:rPr lang="es-ES" sz="1200" dirty="0" err="1" smtClean="0"/>
              <a:t>K_m</a:t>
            </a:r>
            <a:r>
              <a:rPr lang="es-ES" sz="1200" dirty="0" smtClean="0"/>
              <a:t>=0.45</a:t>
            </a:r>
          </a:p>
        </p:txBody>
      </p:sp>
      <p:sp>
        <p:nvSpPr>
          <p:cNvPr id="7" name="CuadroTexto 6"/>
          <p:cNvSpPr txBox="1"/>
          <p:nvPr/>
        </p:nvSpPr>
        <p:spPr>
          <a:xfrm>
            <a:off x="6373487" y="3536903"/>
            <a:ext cx="17865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 smtClean="0"/>
              <a:t>VENTANA 3</a:t>
            </a:r>
          </a:p>
          <a:p>
            <a:endParaRPr lang="es-ES" sz="1200" dirty="0" smtClean="0"/>
          </a:p>
          <a:p>
            <a:r>
              <a:rPr lang="es-ES" sz="1200" dirty="0" err="1" smtClean="0"/>
              <a:t>K_g</a:t>
            </a:r>
            <a:r>
              <a:rPr lang="es-ES" sz="1200" dirty="0" smtClean="0"/>
              <a:t>= 0.48</a:t>
            </a:r>
          </a:p>
          <a:p>
            <a:r>
              <a:rPr lang="es-ES" sz="1200" dirty="0" err="1" smtClean="0"/>
              <a:t>K_m</a:t>
            </a:r>
            <a:r>
              <a:rPr lang="es-ES" sz="1200" dirty="0" smtClean="0"/>
              <a:t>=0.47</a:t>
            </a:r>
          </a:p>
        </p:txBody>
      </p:sp>
    </p:spTree>
    <p:extLst>
      <p:ext uri="{BB962C8B-B14F-4D97-AF65-F5344CB8AC3E}">
        <p14:creationId xmlns:p14="http://schemas.microsoft.com/office/powerpoint/2010/main" val="872354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Balance local y SC</a:t>
            </a:r>
            <a:endParaRPr lang="es-ES" dirty="0"/>
          </a:p>
        </p:txBody>
      </p:sp>
      <p:sp>
        <p:nvSpPr>
          <p:cNvPr id="5" name="CuadroTexto 4"/>
          <p:cNvSpPr txBox="1"/>
          <p:nvPr/>
        </p:nvSpPr>
        <p:spPr>
          <a:xfrm>
            <a:off x="6350903" y="1134447"/>
            <a:ext cx="17865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 smtClean="0"/>
              <a:t>VENTANA 1</a:t>
            </a:r>
          </a:p>
          <a:p>
            <a:endParaRPr lang="es-ES" sz="1200" dirty="0" smtClean="0"/>
          </a:p>
          <a:p>
            <a:r>
              <a:rPr lang="es-ES" sz="1200" dirty="0" err="1" smtClean="0"/>
              <a:t>K_g</a:t>
            </a:r>
            <a:r>
              <a:rPr lang="es-ES" sz="1200" dirty="0" smtClean="0"/>
              <a:t>= 0.2</a:t>
            </a:r>
          </a:p>
          <a:p>
            <a:r>
              <a:rPr lang="es-ES" sz="1200" dirty="0" err="1" smtClean="0"/>
              <a:t>K_m</a:t>
            </a:r>
            <a:r>
              <a:rPr lang="es-ES" sz="1200" dirty="0" smtClean="0"/>
              <a:t>=0.2</a:t>
            </a:r>
          </a:p>
        </p:txBody>
      </p:sp>
      <p:sp>
        <p:nvSpPr>
          <p:cNvPr id="6" name="CuadroTexto 5"/>
          <p:cNvSpPr txBox="1"/>
          <p:nvPr/>
        </p:nvSpPr>
        <p:spPr>
          <a:xfrm>
            <a:off x="6350903" y="2352073"/>
            <a:ext cx="17865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 smtClean="0"/>
              <a:t>VENTANA 2</a:t>
            </a:r>
          </a:p>
          <a:p>
            <a:endParaRPr lang="es-ES" sz="1200" dirty="0" smtClean="0"/>
          </a:p>
          <a:p>
            <a:r>
              <a:rPr lang="es-ES" sz="1200" dirty="0" err="1" smtClean="0"/>
              <a:t>K_g</a:t>
            </a:r>
            <a:r>
              <a:rPr lang="es-ES" sz="1200" dirty="0" smtClean="0"/>
              <a:t>= 0.40</a:t>
            </a:r>
          </a:p>
          <a:p>
            <a:r>
              <a:rPr lang="es-ES" sz="1200" dirty="0" err="1" smtClean="0"/>
              <a:t>K_m</a:t>
            </a:r>
            <a:r>
              <a:rPr lang="es-ES" sz="1200" dirty="0" smtClean="0"/>
              <a:t>=0.45</a:t>
            </a:r>
          </a:p>
        </p:txBody>
      </p:sp>
      <p:sp>
        <p:nvSpPr>
          <p:cNvPr id="7" name="CuadroTexto 6"/>
          <p:cNvSpPr txBox="1"/>
          <p:nvPr/>
        </p:nvSpPr>
        <p:spPr>
          <a:xfrm>
            <a:off x="6373487" y="3536903"/>
            <a:ext cx="17865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 smtClean="0"/>
              <a:t>VENTANA 3</a:t>
            </a:r>
          </a:p>
          <a:p>
            <a:endParaRPr lang="es-ES" sz="1200" dirty="0" smtClean="0"/>
          </a:p>
          <a:p>
            <a:r>
              <a:rPr lang="es-ES" sz="1200" dirty="0" err="1" smtClean="0"/>
              <a:t>K_g</a:t>
            </a:r>
            <a:r>
              <a:rPr lang="es-ES" sz="1200" dirty="0" smtClean="0"/>
              <a:t>= 0.48</a:t>
            </a:r>
          </a:p>
          <a:p>
            <a:r>
              <a:rPr lang="es-ES" sz="1200" dirty="0" err="1" smtClean="0"/>
              <a:t>K_m</a:t>
            </a:r>
            <a:r>
              <a:rPr lang="es-ES" sz="1200" dirty="0" smtClean="0"/>
              <a:t>=0.47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044" y="965928"/>
            <a:ext cx="3815447" cy="3815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044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Balance local y SC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5366" y="896625"/>
            <a:ext cx="5504610" cy="4137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343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Data Charts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1E35A1"/>
      </a:accent1>
      <a:accent2>
        <a:srgbClr val="0C79F3"/>
      </a:accent2>
      <a:accent3>
        <a:srgbClr val="00D4F0"/>
      </a:accent3>
      <a:accent4>
        <a:srgbClr val="2170B7"/>
      </a:accent4>
      <a:accent5>
        <a:srgbClr val="59A7FF"/>
      </a:accent5>
      <a:accent6>
        <a:srgbClr val="071554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64312</TotalTime>
  <Words>305</Words>
  <Application>Microsoft Office PowerPoint</Application>
  <PresentationFormat>Presentación en pantalla (16:9)</PresentationFormat>
  <Paragraphs>124</Paragraphs>
  <Slides>41</Slides>
  <Notes>4</Notes>
  <HiddenSlides>8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41</vt:i4>
      </vt:variant>
    </vt:vector>
  </HeadingPairs>
  <TitlesOfParts>
    <vt:vector size="45" baseType="lpstr">
      <vt:lpstr>Arial</vt:lpstr>
      <vt:lpstr>Roboto</vt:lpstr>
      <vt:lpstr>Fira Sans Extra Condensed Medium</vt:lpstr>
      <vt:lpstr>Data Charts Infographics by Slidesgo</vt:lpstr>
      <vt:lpstr>resumen resultados</vt:lpstr>
      <vt:lpstr>GAM</vt:lpstr>
      <vt:lpstr>GRANGER CAUSALITY</vt:lpstr>
      <vt:lpstr>BOOTSTRAP</vt:lpstr>
      <vt:lpstr>Número links según filtro de abundancia mínima de polen </vt:lpstr>
      <vt:lpstr>Número links según</vt:lpstr>
      <vt:lpstr>Redes por comunidades. Delta y condicionales</vt:lpstr>
      <vt:lpstr>Porcentaje de links negativos según umbral de p valor. </vt:lpstr>
      <vt:lpstr>Garba Guracha</vt:lpstr>
      <vt:lpstr>Garba Guracha</vt:lpstr>
      <vt:lpstr>Basa de la mora</vt:lpstr>
      <vt:lpstr>Porcentaje de links negativos según umbral de p valor. </vt:lpstr>
      <vt:lpstr>Porcentaje de links negativos según umbral de p valor. </vt:lpstr>
      <vt:lpstr>Temporalidad Basa de la Mora</vt:lpstr>
      <vt:lpstr>Temporalidad Basa de la Mora norm</vt:lpstr>
      <vt:lpstr>Temporalidad GG</vt:lpstr>
      <vt:lpstr>Temporalidad</vt:lpstr>
      <vt:lpstr>Temporalidad GG normalizada</vt:lpstr>
      <vt:lpstr>Temporalidad</vt:lpstr>
      <vt:lpstr>Temporalidad</vt:lpstr>
      <vt:lpstr>Reciprocidad</vt:lpstr>
      <vt:lpstr>Reciprocidad GG normalizada</vt:lpstr>
      <vt:lpstr>Reciprocidad Basa Mora normalizada</vt:lpstr>
      <vt:lpstr>Reciprocidad</vt:lpstr>
      <vt:lpstr>Reciprocidad</vt:lpstr>
      <vt:lpstr>Reciprocidad</vt:lpstr>
      <vt:lpstr>Reciprocidad</vt:lpstr>
      <vt:lpstr>ESPECIFICIDAD</vt:lpstr>
      <vt:lpstr>K_in k_out</vt:lpstr>
      <vt:lpstr>Presentación de PowerPoint</vt:lpstr>
      <vt:lpstr>Presentación de PowerPoint</vt:lpstr>
      <vt:lpstr>Balance (Garba Guracha con pc)</vt:lpstr>
      <vt:lpstr>Balance (Garba Guracha no pc)</vt:lpstr>
      <vt:lpstr>Tramacastilla</vt:lpstr>
      <vt:lpstr>Tramacastilla</vt:lpstr>
      <vt:lpstr>Balance local y SC</vt:lpstr>
      <vt:lpstr>Balance local y SC</vt:lpstr>
      <vt:lpstr>Balance local y SC</vt:lpstr>
      <vt:lpstr>Balance local y SC</vt:lpstr>
      <vt:lpstr>Balance local y SC</vt:lpstr>
      <vt:lpstr>Balance local y SC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TFM REVIEW</dc:title>
  <dc:creator>Ana Cano</dc:creator>
  <cp:lastModifiedBy>Cuenta Microsoft</cp:lastModifiedBy>
  <cp:revision>87</cp:revision>
  <dcterms:modified xsi:type="dcterms:W3CDTF">2026-06-08T18:29:45Z</dcterms:modified>
</cp:coreProperties>
</file>