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  <p:sldMasterId id="2147483744" r:id="rId9"/>
    <p:sldMasterId id="2147483756" r:id="rId10"/>
  </p:sldMasterIdLst>
  <p:sldIdLst>
    <p:sldId id="256" r:id="rId11"/>
    <p:sldId id="257" r:id="rId12"/>
    <p:sldId id="258" r:id="rId13"/>
    <p:sldId id="259" r:id="rId14"/>
    <p:sldId id="261" r:id="rId15"/>
    <p:sldId id="262" r:id="rId16"/>
    <p:sldId id="260" r:id="rId17"/>
    <p:sldId id="263" r:id="rId18"/>
    <p:sldId id="266" r:id="rId19"/>
    <p:sldId id="264" r:id="rId20"/>
    <p:sldId id="265" r:id="rId2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119D-3BED-4C80-A139-8804E3A4599B}" type="datetimeFigureOut">
              <a:rPr lang="es-ES" smtClean="0"/>
              <a:t>09/06/2026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675C6-E992-450F-B85F-F5D20C07C6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2619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119D-3BED-4C80-A139-8804E3A4599B}" type="datetimeFigureOut">
              <a:rPr lang="es-ES" smtClean="0"/>
              <a:t>09/06/2026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675C6-E992-450F-B85F-F5D20C07C6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0658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119D-3BED-4C80-A139-8804E3A4599B}" type="datetimeFigureOut">
              <a:rPr lang="es-ES" smtClean="0"/>
              <a:t>09/06/2026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675C6-E992-450F-B85F-F5D20C07C6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6660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119D-3BED-4C80-A139-8804E3A4599B}" type="datetimeFigureOut">
              <a:rPr lang="es-ES" smtClean="0"/>
              <a:t>09/06/2026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675C6-E992-450F-B85F-F5D20C07C6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2381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119D-3BED-4C80-A139-8804E3A4599B}" type="datetimeFigureOut">
              <a:rPr lang="es-ES" smtClean="0"/>
              <a:t>09/06/2026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675C6-E992-450F-B85F-F5D20C07C6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2168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119D-3BED-4C80-A139-8804E3A4599B}" type="datetimeFigureOut">
              <a:rPr lang="es-ES" smtClean="0"/>
              <a:t>09/06/2026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675C6-E992-450F-B85F-F5D20C07C6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782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119D-3BED-4C80-A139-8804E3A4599B}" type="datetimeFigureOut">
              <a:rPr lang="es-ES" smtClean="0"/>
              <a:t>09/06/2026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675C6-E992-450F-B85F-F5D20C07C6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200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119D-3BED-4C80-A139-8804E3A4599B}" type="datetimeFigureOut">
              <a:rPr lang="es-ES" smtClean="0"/>
              <a:t>09/06/2026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675C6-E992-450F-B85F-F5D20C07C6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3653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119D-3BED-4C80-A139-8804E3A4599B}" type="datetimeFigureOut">
              <a:rPr lang="es-ES" smtClean="0"/>
              <a:t>09/06/2026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675C6-E992-450F-B85F-F5D20C07C6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7735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119D-3BED-4C80-A139-8804E3A4599B}" type="datetimeFigureOut">
              <a:rPr lang="es-ES" smtClean="0"/>
              <a:t>09/06/2026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675C6-E992-450F-B85F-F5D20C07C6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191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119D-3BED-4C80-A139-8804E3A4599B}" type="datetimeFigureOut">
              <a:rPr lang="es-ES" smtClean="0"/>
              <a:t>09/06/2026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675C6-E992-450F-B85F-F5D20C07C6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3004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47040" y="715533"/>
            <a:ext cx="6557600" cy="27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47033" y="3452333"/>
            <a:ext cx="6557600" cy="71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78947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59644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44900" y="1375000"/>
            <a:ext cx="10937600" cy="49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26277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004661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56751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72080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23034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2830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24598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09122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50494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47040" y="715533"/>
            <a:ext cx="6557600" cy="27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47033" y="3452333"/>
            <a:ext cx="6557600" cy="71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8420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89940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44900" y="1375000"/>
            <a:ext cx="10937600" cy="49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31206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73473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64868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73377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88193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181857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97591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08586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83639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47040" y="715533"/>
            <a:ext cx="6557600" cy="27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47033" y="3452333"/>
            <a:ext cx="6557600" cy="71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55547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71971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44900" y="1375000"/>
            <a:ext cx="10937600" cy="49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877252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065799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48646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21202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11817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17124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917170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71110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586340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47040" y="715533"/>
            <a:ext cx="6557600" cy="27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47033" y="3452333"/>
            <a:ext cx="6557600" cy="71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07942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74160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44900" y="1375000"/>
            <a:ext cx="10937600" cy="49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369764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64259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821986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27496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145013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82526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612331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130306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73311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47040" y="715533"/>
            <a:ext cx="6557600" cy="27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47033" y="3452333"/>
            <a:ext cx="6557600" cy="71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557951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405484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44900" y="1375000"/>
            <a:ext cx="10937600" cy="49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413379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442367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015874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489247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827778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475124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791851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491573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737419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47040" y="715533"/>
            <a:ext cx="6557600" cy="27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47033" y="3452333"/>
            <a:ext cx="6557600" cy="71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509673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891447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44900" y="1375000"/>
            <a:ext cx="10937600" cy="49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756374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1017441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181083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586343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908766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717006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646482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35345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2703241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47040" y="715533"/>
            <a:ext cx="6557600" cy="27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47033" y="3452333"/>
            <a:ext cx="6557600" cy="71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841348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732018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44900" y="1375000"/>
            <a:ext cx="10937600" cy="49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509747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54242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9516865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398710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21022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175764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46206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777958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333979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47040" y="715533"/>
            <a:ext cx="6557600" cy="27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47033" y="3452333"/>
            <a:ext cx="6557600" cy="71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499302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981411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44900" y="1375000"/>
            <a:ext cx="10937600" cy="49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602287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802472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483488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707463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942143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091951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89276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606279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605431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47040" y="715533"/>
            <a:ext cx="6557600" cy="27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47033" y="3452333"/>
            <a:ext cx="6557600" cy="71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5084028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698976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44900" y="1375000"/>
            <a:ext cx="10937600" cy="49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301866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916629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0371699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9339874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0383974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6085888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4890579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34614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‹Nº›</a:t>
            </a:fld>
            <a:endParaRPr lang="es-E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7629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4119D-3BED-4C80-A139-8804E3A4599B}" type="datetimeFigureOut">
              <a:rPr lang="es-ES" smtClean="0"/>
              <a:t>09/06/2026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675C6-E992-450F-B85F-F5D20C07C6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4571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44900" y="1375000"/>
            <a:ext cx="10937600" cy="49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7699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4294967295" orient="horz" pos="1620">
          <p15:clr>
            <a:srgbClr val="EA4335"/>
          </p15:clr>
        </p15:guide>
        <p15:guide id="4294967295" pos="2880">
          <p15:clr>
            <a:srgbClr val="EA4335"/>
          </p15:clr>
        </p15:guide>
        <p15:guide id="4294967295" pos="288">
          <p15:clr>
            <a:srgbClr val="EA4335"/>
          </p15:clr>
        </p15:guide>
        <p15:guide id="4294967295" pos="5472">
          <p15:clr>
            <a:srgbClr val="EA4335"/>
          </p15:clr>
        </p15:guide>
        <p15:guide id="4294967295" orient="horz" pos="262">
          <p15:clr>
            <a:srgbClr val="EA4335"/>
          </p15:clr>
        </p15:guide>
        <p15:guide id="4294967295" orient="horz" pos="2978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44900" y="1375000"/>
            <a:ext cx="10937600" cy="49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014831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4294967295" orient="horz" pos="1620">
          <p15:clr>
            <a:srgbClr val="EA4335"/>
          </p15:clr>
        </p15:guide>
        <p15:guide id="4294967295" pos="2880">
          <p15:clr>
            <a:srgbClr val="EA4335"/>
          </p15:clr>
        </p15:guide>
        <p15:guide id="4294967295" pos="288">
          <p15:clr>
            <a:srgbClr val="EA4335"/>
          </p15:clr>
        </p15:guide>
        <p15:guide id="4294967295" pos="5472">
          <p15:clr>
            <a:srgbClr val="EA4335"/>
          </p15:clr>
        </p15:guide>
        <p15:guide id="4294967295" orient="horz" pos="262">
          <p15:clr>
            <a:srgbClr val="EA4335"/>
          </p15:clr>
        </p15:guide>
        <p15:guide id="4294967295" orient="horz" pos="2978">
          <p15:clr>
            <a:srgbClr val="EA4335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44900" y="1375000"/>
            <a:ext cx="10937600" cy="49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171710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4294967295" orient="horz" pos="1620">
          <p15:clr>
            <a:srgbClr val="EA4335"/>
          </p15:clr>
        </p15:guide>
        <p15:guide id="4294967295" pos="2880">
          <p15:clr>
            <a:srgbClr val="EA4335"/>
          </p15:clr>
        </p15:guide>
        <p15:guide id="4294967295" pos="288">
          <p15:clr>
            <a:srgbClr val="EA4335"/>
          </p15:clr>
        </p15:guide>
        <p15:guide id="4294967295" pos="5472">
          <p15:clr>
            <a:srgbClr val="EA4335"/>
          </p15:clr>
        </p15:guide>
        <p15:guide id="4294967295" orient="horz" pos="262">
          <p15:clr>
            <a:srgbClr val="EA4335"/>
          </p15:clr>
        </p15:guide>
        <p15:guide id="4294967295" orient="horz" pos="2978">
          <p15:clr>
            <a:srgbClr val="EA4335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44900" y="1375000"/>
            <a:ext cx="10937600" cy="49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187092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4294967295" orient="horz" pos="1620">
          <p15:clr>
            <a:srgbClr val="EA4335"/>
          </p15:clr>
        </p15:guide>
        <p15:guide id="4294967295" pos="2880">
          <p15:clr>
            <a:srgbClr val="EA4335"/>
          </p15:clr>
        </p15:guide>
        <p15:guide id="4294967295" pos="288">
          <p15:clr>
            <a:srgbClr val="EA4335"/>
          </p15:clr>
        </p15:guide>
        <p15:guide id="4294967295" pos="5472">
          <p15:clr>
            <a:srgbClr val="EA4335"/>
          </p15:clr>
        </p15:guide>
        <p15:guide id="4294967295" orient="horz" pos="262">
          <p15:clr>
            <a:srgbClr val="EA4335"/>
          </p15:clr>
        </p15:guide>
        <p15:guide id="4294967295" orient="horz" pos="2978">
          <p15:clr>
            <a:srgbClr val="EA4335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44900" y="1375000"/>
            <a:ext cx="10937600" cy="49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4611564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4294967295" orient="horz" pos="1620">
          <p15:clr>
            <a:srgbClr val="EA4335"/>
          </p15:clr>
        </p15:guide>
        <p15:guide id="4294967295" pos="2880">
          <p15:clr>
            <a:srgbClr val="EA4335"/>
          </p15:clr>
        </p15:guide>
        <p15:guide id="4294967295" pos="288">
          <p15:clr>
            <a:srgbClr val="EA4335"/>
          </p15:clr>
        </p15:guide>
        <p15:guide id="4294967295" pos="5472">
          <p15:clr>
            <a:srgbClr val="EA4335"/>
          </p15:clr>
        </p15:guide>
        <p15:guide id="4294967295" orient="horz" pos="262">
          <p15:clr>
            <a:srgbClr val="EA4335"/>
          </p15:clr>
        </p15:guide>
        <p15:guide id="4294967295" orient="horz" pos="2978">
          <p15:clr>
            <a:srgbClr val="EA4335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44900" y="1375000"/>
            <a:ext cx="10937600" cy="49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175650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4294967295" orient="horz" pos="1620">
          <p15:clr>
            <a:srgbClr val="EA4335"/>
          </p15:clr>
        </p15:guide>
        <p15:guide id="4294967295" pos="2880">
          <p15:clr>
            <a:srgbClr val="EA4335"/>
          </p15:clr>
        </p15:guide>
        <p15:guide id="4294967295" pos="288">
          <p15:clr>
            <a:srgbClr val="EA4335"/>
          </p15:clr>
        </p15:guide>
        <p15:guide id="4294967295" pos="5472">
          <p15:clr>
            <a:srgbClr val="EA4335"/>
          </p15:clr>
        </p15:guide>
        <p15:guide id="4294967295" orient="horz" pos="262">
          <p15:clr>
            <a:srgbClr val="EA4335"/>
          </p15:clr>
        </p15:guide>
        <p15:guide id="4294967295" orient="horz" pos="2978">
          <p15:clr>
            <a:srgbClr val="EA4335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44900" y="1375000"/>
            <a:ext cx="10937600" cy="49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798312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4294967295" orient="horz" pos="1620">
          <p15:clr>
            <a:srgbClr val="EA4335"/>
          </p15:clr>
        </p15:guide>
        <p15:guide id="4294967295" pos="2880">
          <p15:clr>
            <a:srgbClr val="EA4335"/>
          </p15:clr>
        </p15:guide>
        <p15:guide id="4294967295" pos="288">
          <p15:clr>
            <a:srgbClr val="EA4335"/>
          </p15:clr>
        </p15:guide>
        <p15:guide id="4294967295" pos="5472">
          <p15:clr>
            <a:srgbClr val="EA4335"/>
          </p15:clr>
        </p15:guide>
        <p15:guide id="4294967295" orient="horz" pos="262">
          <p15:clr>
            <a:srgbClr val="EA4335"/>
          </p15:clr>
        </p15:guide>
        <p15:guide id="4294967295" orient="horz" pos="2978">
          <p15:clr>
            <a:srgbClr val="EA4335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44900" y="1375000"/>
            <a:ext cx="10937600" cy="49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039547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4294967295" orient="horz" pos="1620">
          <p15:clr>
            <a:srgbClr val="EA4335"/>
          </p15:clr>
        </p15:guide>
        <p15:guide id="4294967295" pos="2880">
          <p15:clr>
            <a:srgbClr val="EA4335"/>
          </p15:clr>
        </p15:guide>
        <p15:guide id="4294967295" pos="288">
          <p15:clr>
            <a:srgbClr val="EA4335"/>
          </p15:clr>
        </p15:guide>
        <p15:guide id="4294967295" pos="5472">
          <p15:clr>
            <a:srgbClr val="EA4335"/>
          </p15:clr>
        </p15:guide>
        <p15:guide id="4294967295" orient="horz" pos="262">
          <p15:clr>
            <a:srgbClr val="EA4335"/>
          </p15:clr>
        </p15:guide>
        <p15:guide id="4294967295" orient="horz" pos="2978">
          <p15:clr>
            <a:srgbClr val="EA4335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44900" y="553900"/>
            <a:ext cx="10937600" cy="6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44900" y="1375000"/>
            <a:ext cx="10937600" cy="49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84133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4294967295" orient="horz" pos="1620">
          <p15:clr>
            <a:srgbClr val="EA4335"/>
          </p15:clr>
        </p15:guide>
        <p15:guide id="4294967295" pos="2880">
          <p15:clr>
            <a:srgbClr val="EA4335"/>
          </p15:clr>
        </p15:guide>
        <p15:guide id="4294967295" pos="288">
          <p15:clr>
            <a:srgbClr val="EA4335"/>
          </p15:clr>
        </p15:guide>
        <p15:guide id="4294967295" pos="5472">
          <p15:clr>
            <a:srgbClr val="EA4335"/>
          </p15:clr>
        </p15:guide>
        <p15:guide id="4294967295" orient="horz" pos="262">
          <p15:clr>
            <a:srgbClr val="EA4335"/>
          </p15:clr>
        </p15:guide>
        <p15:guide id="4294967295" orient="horz" pos="297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RESULTADOS COARSE</a:t>
            </a:r>
            <a:br>
              <a:rPr lang="es-ES" dirty="0" smtClean="0"/>
            </a:br>
            <a:r>
              <a:rPr lang="es-ES" dirty="0" smtClean="0"/>
              <a:t>NETWORKS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305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Temporalidad Basa de la Mora</a:t>
            </a:r>
            <a:endParaRPr lang="es-ES" dirty="0"/>
          </a:p>
        </p:txBody>
      </p:sp>
      <p:sp>
        <p:nvSpPr>
          <p:cNvPr id="5" name="CuadroTexto 4"/>
          <p:cNvSpPr txBox="1"/>
          <p:nvPr/>
        </p:nvSpPr>
        <p:spPr>
          <a:xfrm>
            <a:off x="8763423" y="1413549"/>
            <a:ext cx="23820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s-ES" sz="1600" kern="0" dirty="0">
                <a:solidFill>
                  <a:srgbClr val="000000"/>
                </a:solidFill>
                <a:cs typeface="Arial"/>
                <a:sym typeface="Arial"/>
              </a:rPr>
              <a:t>VENTANA 1 - 2</a:t>
            </a:r>
          </a:p>
          <a:p>
            <a:pPr>
              <a:buClr>
                <a:srgbClr val="000000"/>
              </a:buClr>
              <a:buFont typeface="Arial"/>
              <a:buNone/>
            </a:pPr>
            <a:endParaRPr lang="es-ES" sz="1600" kern="0" dirty="0">
              <a:solidFill>
                <a:srgbClr val="000000"/>
              </a:solidFill>
              <a:cs typeface="Arial"/>
              <a:sym typeface="Arial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s-ES" sz="1600" kern="0" dirty="0" err="1">
                <a:solidFill>
                  <a:srgbClr val="000000"/>
                </a:solidFill>
                <a:cs typeface="Arial"/>
                <a:sym typeface="Arial"/>
              </a:rPr>
              <a:t>D+s</a:t>
            </a:r>
            <a:r>
              <a:rPr lang="es-ES" sz="1600" kern="0" dirty="0">
                <a:solidFill>
                  <a:srgbClr val="000000"/>
                </a:solidFill>
                <a:cs typeface="Arial"/>
                <a:sym typeface="Arial"/>
              </a:rPr>
              <a:t> = 0.20</a:t>
            </a: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s-ES" sz="1600" kern="0" dirty="0" err="1">
                <a:solidFill>
                  <a:srgbClr val="000000"/>
                </a:solidFill>
                <a:cs typeface="Arial"/>
                <a:sym typeface="Arial"/>
              </a:rPr>
              <a:t>D+no_s</a:t>
            </a:r>
            <a:r>
              <a:rPr lang="es-ES" sz="1600" kern="0" dirty="0">
                <a:solidFill>
                  <a:srgbClr val="000000"/>
                </a:solidFill>
                <a:cs typeface="Arial"/>
                <a:sym typeface="Arial"/>
              </a:rPr>
              <a:t> = 0.40</a:t>
            </a: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s-ES" sz="1600" kern="0" dirty="0" err="1">
                <a:solidFill>
                  <a:srgbClr val="000000"/>
                </a:solidFill>
                <a:cs typeface="Arial"/>
                <a:sym typeface="Arial"/>
              </a:rPr>
              <a:t>No_d+no_s</a:t>
            </a:r>
            <a:r>
              <a:rPr lang="es-ES" sz="1600" kern="0" dirty="0">
                <a:solidFill>
                  <a:srgbClr val="000000"/>
                </a:solidFill>
                <a:cs typeface="Arial"/>
                <a:sym typeface="Arial"/>
              </a:rPr>
              <a:t> = 0.62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8763423" y="3132019"/>
            <a:ext cx="23820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s-ES" sz="1600" kern="0" dirty="0">
                <a:solidFill>
                  <a:srgbClr val="000000"/>
                </a:solidFill>
                <a:cs typeface="Arial"/>
                <a:sym typeface="Arial"/>
              </a:rPr>
              <a:t>VENTANA 2 - 3</a:t>
            </a:r>
          </a:p>
          <a:p>
            <a:pPr>
              <a:buClr>
                <a:srgbClr val="000000"/>
              </a:buClr>
              <a:buFont typeface="Arial"/>
              <a:buNone/>
            </a:pPr>
            <a:endParaRPr lang="es-ES" sz="1600" kern="0" dirty="0">
              <a:solidFill>
                <a:srgbClr val="000000"/>
              </a:solidFill>
              <a:cs typeface="Arial"/>
              <a:sym typeface="Arial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s-ES" sz="1600" kern="0" dirty="0" err="1">
                <a:solidFill>
                  <a:srgbClr val="000000"/>
                </a:solidFill>
                <a:cs typeface="Arial"/>
                <a:sym typeface="Arial"/>
              </a:rPr>
              <a:t>D+s</a:t>
            </a:r>
            <a:r>
              <a:rPr lang="es-ES" sz="1600" kern="0" dirty="0">
                <a:solidFill>
                  <a:srgbClr val="000000"/>
                </a:solidFill>
                <a:cs typeface="Arial"/>
                <a:sym typeface="Arial"/>
              </a:rPr>
              <a:t> = 0.17</a:t>
            </a: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s-ES" sz="1600" kern="0" dirty="0" err="1">
                <a:solidFill>
                  <a:srgbClr val="000000"/>
                </a:solidFill>
                <a:cs typeface="Arial"/>
                <a:sym typeface="Arial"/>
              </a:rPr>
              <a:t>D+no_s</a:t>
            </a:r>
            <a:r>
              <a:rPr lang="es-ES" sz="1600" kern="0" dirty="0">
                <a:solidFill>
                  <a:srgbClr val="000000"/>
                </a:solidFill>
                <a:cs typeface="Arial"/>
                <a:sym typeface="Arial"/>
              </a:rPr>
              <a:t> = 0.43</a:t>
            </a: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s-ES" sz="1600" kern="0" dirty="0" err="1">
                <a:solidFill>
                  <a:srgbClr val="000000"/>
                </a:solidFill>
                <a:cs typeface="Arial"/>
                <a:sym typeface="Arial"/>
              </a:rPr>
              <a:t>No_d+no_s</a:t>
            </a:r>
            <a:r>
              <a:rPr lang="es-ES" sz="1600" kern="0" dirty="0">
                <a:solidFill>
                  <a:srgbClr val="000000"/>
                </a:solidFill>
                <a:cs typeface="Arial"/>
                <a:sym typeface="Arial"/>
              </a:rPr>
              <a:t> = 0.61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55" y="2075268"/>
            <a:ext cx="6894041" cy="4276051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8763423" y="4763776"/>
            <a:ext cx="23820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s-ES" sz="1600" kern="0" dirty="0">
                <a:solidFill>
                  <a:srgbClr val="000000"/>
                </a:solidFill>
                <a:cs typeface="Arial"/>
                <a:sym typeface="Arial"/>
              </a:rPr>
              <a:t>VENTANA 1 - 3</a:t>
            </a:r>
          </a:p>
          <a:p>
            <a:pPr>
              <a:buClr>
                <a:srgbClr val="000000"/>
              </a:buClr>
              <a:buFont typeface="Arial"/>
              <a:buNone/>
            </a:pPr>
            <a:endParaRPr lang="es-ES" sz="1600" kern="0" dirty="0">
              <a:solidFill>
                <a:srgbClr val="000000"/>
              </a:solidFill>
              <a:cs typeface="Arial"/>
              <a:sym typeface="Arial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s-ES" sz="1600" kern="0" dirty="0" err="1">
                <a:solidFill>
                  <a:srgbClr val="000000"/>
                </a:solidFill>
                <a:cs typeface="Arial"/>
                <a:sym typeface="Arial"/>
              </a:rPr>
              <a:t>D+s</a:t>
            </a:r>
            <a:r>
              <a:rPr lang="es-ES" sz="1600" kern="0" dirty="0">
                <a:solidFill>
                  <a:srgbClr val="000000"/>
                </a:solidFill>
                <a:cs typeface="Arial"/>
                <a:sym typeface="Arial"/>
              </a:rPr>
              <a:t> = 0.12</a:t>
            </a: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s-ES" sz="1600" kern="0" dirty="0" err="1">
                <a:solidFill>
                  <a:srgbClr val="000000"/>
                </a:solidFill>
                <a:cs typeface="Arial"/>
                <a:sym typeface="Arial"/>
              </a:rPr>
              <a:t>D+no_s</a:t>
            </a:r>
            <a:r>
              <a:rPr lang="es-ES" sz="1600" kern="0" dirty="0">
                <a:solidFill>
                  <a:srgbClr val="000000"/>
                </a:solidFill>
                <a:cs typeface="Arial"/>
                <a:sym typeface="Arial"/>
              </a:rPr>
              <a:t> = 0.25</a:t>
            </a: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s-ES" sz="1600" kern="0" dirty="0" err="1">
                <a:solidFill>
                  <a:srgbClr val="000000"/>
                </a:solidFill>
                <a:cs typeface="Arial"/>
                <a:sym typeface="Arial"/>
              </a:rPr>
              <a:t>No_d+no_s</a:t>
            </a:r>
            <a:r>
              <a:rPr lang="es-ES" sz="1600" kern="0" dirty="0">
                <a:solidFill>
                  <a:srgbClr val="000000"/>
                </a:solidFill>
                <a:cs typeface="Arial"/>
                <a:sym typeface="Arial"/>
              </a:rPr>
              <a:t> = 0.46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798155" y="1537855"/>
            <a:ext cx="521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Sin comparar con modelo nulo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35303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Temporalidad Basa de la </a:t>
            </a:r>
            <a:r>
              <a:rPr lang="es-ES" dirty="0" smtClean="0"/>
              <a:t>Mora</a:t>
            </a:r>
            <a:endParaRPr lang="es-E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84" y="1462971"/>
            <a:ext cx="8103287" cy="5026088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7628447" y="1731819"/>
            <a:ext cx="5214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Dividida por la temporalidades</a:t>
            </a:r>
          </a:p>
          <a:p>
            <a:r>
              <a:rPr lang="es-ES" dirty="0" smtClean="0"/>
              <a:t> con </a:t>
            </a:r>
            <a:r>
              <a:rPr lang="es-ES" dirty="0" err="1" smtClean="0"/>
              <a:t>Erdos-Renyi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03879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Temporalidad </a:t>
            </a:r>
            <a:r>
              <a:rPr lang="es-ES" dirty="0" smtClean="0"/>
              <a:t>Garba </a:t>
            </a:r>
            <a:r>
              <a:rPr lang="es-ES" dirty="0" err="1" smtClean="0"/>
              <a:t>Guracha</a:t>
            </a:r>
            <a:endParaRPr lang="es-ES" dirty="0"/>
          </a:p>
        </p:txBody>
      </p:sp>
      <p:sp>
        <p:nvSpPr>
          <p:cNvPr id="3" name="CuadroTexto 2"/>
          <p:cNvSpPr txBox="1"/>
          <p:nvPr/>
        </p:nvSpPr>
        <p:spPr>
          <a:xfrm>
            <a:off x="7129682" y="723860"/>
            <a:ext cx="521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Sin comparar con modelo nulo</a:t>
            </a:r>
            <a:endParaRPr lang="es-ES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0313"/>
            <a:ext cx="6170681" cy="3827384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681" y="2530313"/>
            <a:ext cx="5905120" cy="3662669"/>
          </a:xfrm>
          <a:prstGeom prst="rect">
            <a:avLst/>
          </a:prstGeom>
        </p:spPr>
      </p:pic>
      <p:sp>
        <p:nvSpPr>
          <p:cNvPr id="13" name="CuadroTexto 12"/>
          <p:cNvSpPr txBox="1"/>
          <p:nvPr/>
        </p:nvSpPr>
        <p:spPr>
          <a:xfrm>
            <a:off x="1587864" y="1885430"/>
            <a:ext cx="521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CON CUENTAS</a:t>
            </a:r>
            <a:endParaRPr lang="es-E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7337500" y="1838540"/>
            <a:ext cx="521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CON PORCENTAJES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55465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Temporalidad Garba </a:t>
            </a:r>
            <a:r>
              <a:rPr lang="es-ES" dirty="0" err="1"/>
              <a:t>Guracha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44" y="1365460"/>
            <a:ext cx="9555497" cy="272259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4" y="4088051"/>
            <a:ext cx="9665547" cy="2753945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7129682" y="723860"/>
            <a:ext cx="521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Sin comparar con modelo nulo</a:t>
            </a:r>
            <a:endParaRPr lang="es-ES" dirty="0"/>
          </a:p>
        </p:txBody>
      </p:sp>
      <p:sp>
        <p:nvSpPr>
          <p:cNvPr id="7" name="CuadroTexto 6"/>
          <p:cNvSpPr txBox="1"/>
          <p:nvPr/>
        </p:nvSpPr>
        <p:spPr>
          <a:xfrm>
            <a:off x="9847091" y="2542090"/>
            <a:ext cx="521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CON CUENTAS</a:t>
            </a:r>
            <a:endParaRPr lang="es-ES" dirty="0"/>
          </a:p>
        </p:txBody>
      </p:sp>
      <p:sp>
        <p:nvSpPr>
          <p:cNvPr id="8" name="CuadroTexto 7"/>
          <p:cNvSpPr txBox="1"/>
          <p:nvPr/>
        </p:nvSpPr>
        <p:spPr>
          <a:xfrm>
            <a:off x="9944073" y="5141857"/>
            <a:ext cx="5214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CON </a:t>
            </a:r>
          </a:p>
          <a:p>
            <a:r>
              <a:rPr lang="es-ES" dirty="0" smtClean="0"/>
              <a:t>PORCENTAJES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74287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Temporalidad comparada con </a:t>
            </a:r>
            <a:r>
              <a:rPr lang="es-ES" dirty="0" err="1" smtClean="0"/>
              <a:t>Configuration</a:t>
            </a:r>
            <a:r>
              <a:rPr lang="es-ES" dirty="0" smtClean="0"/>
              <a:t> </a:t>
            </a:r>
            <a:r>
              <a:rPr lang="es-ES" dirty="0" err="1" smtClean="0"/>
              <a:t>Model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0" y="4071325"/>
            <a:ext cx="10463405" cy="2740581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0" y="1195500"/>
            <a:ext cx="10709184" cy="2848110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10880438" y="4859902"/>
            <a:ext cx="10695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 smtClean="0"/>
              <a:t>Garba </a:t>
            </a:r>
          </a:p>
          <a:p>
            <a:r>
              <a:rPr lang="es-ES" dirty="0" err="1" smtClean="0"/>
              <a:t>Guracha</a:t>
            </a:r>
            <a:endParaRPr lang="es-ES" dirty="0"/>
          </a:p>
        </p:txBody>
      </p:sp>
      <p:sp>
        <p:nvSpPr>
          <p:cNvPr id="8" name="Rectángulo 7"/>
          <p:cNvSpPr/>
          <p:nvPr/>
        </p:nvSpPr>
        <p:spPr>
          <a:xfrm>
            <a:off x="10852725" y="2435357"/>
            <a:ext cx="10951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 smtClean="0"/>
              <a:t>Basa de</a:t>
            </a:r>
          </a:p>
          <a:p>
            <a:r>
              <a:rPr lang="es-ES" dirty="0" smtClean="0"/>
              <a:t>La Mora </a:t>
            </a:r>
          </a:p>
        </p:txBody>
      </p:sp>
    </p:spTree>
    <p:extLst>
      <p:ext uri="{BB962C8B-B14F-4D97-AF65-F5344CB8AC3E}">
        <p14:creationId xmlns:p14="http://schemas.microsoft.com/office/powerpoint/2010/main" val="700337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Temporalidad Media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18" y="1957326"/>
            <a:ext cx="5958982" cy="369607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10535"/>
            <a:ext cx="6109855" cy="3789657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5828044" y="690034"/>
            <a:ext cx="521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La </a:t>
            </a:r>
            <a:r>
              <a:rPr lang="es-ES" dirty="0" err="1" smtClean="0"/>
              <a:t>Random</a:t>
            </a:r>
            <a:r>
              <a:rPr lang="es-ES" dirty="0" smtClean="0"/>
              <a:t> es de </a:t>
            </a:r>
            <a:r>
              <a:rPr lang="es-ES" dirty="0" err="1" smtClean="0"/>
              <a:t>Configuration</a:t>
            </a:r>
            <a:r>
              <a:rPr lang="es-ES" dirty="0" smtClean="0"/>
              <a:t> </a:t>
            </a:r>
            <a:r>
              <a:rPr lang="es-ES" dirty="0" err="1" smtClean="0"/>
              <a:t>Model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52801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Reciprocidad y CM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17" y="4127893"/>
            <a:ext cx="10181164" cy="271497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99" y="1172560"/>
            <a:ext cx="10718800" cy="2858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266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Reciprocidad por comunidades Basa de la Mora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82" y="1750897"/>
            <a:ext cx="8587979" cy="4054157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8849564" y="1769976"/>
            <a:ext cx="314847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Este puede que no se entienda.</a:t>
            </a:r>
          </a:p>
          <a:p>
            <a:endParaRPr lang="es-ES" dirty="0"/>
          </a:p>
          <a:p>
            <a:r>
              <a:rPr lang="es-ES" dirty="0" smtClean="0"/>
              <a:t>Si no recuerdo mal, reciprocidad positiva incluye los casos con dos positivos y un negativo. Lo mismo para la reciprocidad negativa. </a:t>
            </a:r>
            <a:endParaRPr lang="es-ES" dirty="0"/>
          </a:p>
          <a:p>
            <a:endParaRPr lang="es-ES" dirty="0" smtClean="0"/>
          </a:p>
          <a:p>
            <a:r>
              <a:rPr lang="es-ES" dirty="0" smtClean="0"/>
              <a:t>Los de color “carne” son o 1 positivo y 1 negativo, o un solo link.</a:t>
            </a:r>
          </a:p>
          <a:p>
            <a:endParaRPr lang="es-ES" dirty="0"/>
          </a:p>
          <a:p>
            <a:r>
              <a:rPr lang="es-ES" dirty="0" smtClean="0"/>
              <a:t>Los de rayitas tienen los 4 tipos de links.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36208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3955" y="1094227"/>
            <a:ext cx="10937600" cy="641600"/>
          </a:xfrm>
        </p:spPr>
        <p:txBody>
          <a:bodyPr/>
          <a:lstStyle/>
          <a:p>
            <a:r>
              <a:rPr lang="es-ES" dirty="0" err="1" smtClean="0"/>
              <a:t>K_in</a:t>
            </a:r>
            <a:r>
              <a:rPr lang="es-ES" dirty="0" smtClean="0"/>
              <a:t> </a:t>
            </a:r>
            <a:r>
              <a:rPr lang="es-ES" dirty="0" err="1" smtClean="0"/>
              <a:t>k_out</a:t>
            </a:r>
            <a:r>
              <a:rPr lang="es-ES" dirty="0" smtClean="0"/>
              <a:t/>
            </a:r>
            <a:br>
              <a:rPr lang="es-ES" dirty="0" smtClean="0"/>
            </a:br>
            <a:r>
              <a:rPr lang="es-ES" dirty="0"/>
              <a:t/>
            </a:r>
            <a:br>
              <a:rPr lang="es-ES" dirty="0"/>
            </a:br>
            <a:r>
              <a:rPr lang="es-ES" dirty="0" smtClean="0"/>
              <a:t>Basa de </a:t>
            </a:r>
            <a:br>
              <a:rPr lang="es-ES" dirty="0" smtClean="0"/>
            </a:br>
            <a:r>
              <a:rPr lang="es-ES" dirty="0" smtClean="0"/>
              <a:t>la Mora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896" y="182598"/>
            <a:ext cx="7755567" cy="640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32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b="14403"/>
          <a:stretch/>
        </p:blipFill>
        <p:spPr>
          <a:xfrm>
            <a:off x="1131307" y="129460"/>
            <a:ext cx="8845157" cy="3003753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/>
          <a:srcRect b="15435"/>
          <a:stretch/>
        </p:blipFill>
        <p:spPr>
          <a:xfrm>
            <a:off x="2124177" y="3560721"/>
            <a:ext cx="7734300" cy="2666376"/>
          </a:xfrm>
          <a:prstGeom prst="rect">
            <a:avLst/>
          </a:prstGeom>
        </p:spPr>
      </p:pic>
      <p:cxnSp>
        <p:nvCxnSpPr>
          <p:cNvPr id="6" name="Conector curvado 5"/>
          <p:cNvCxnSpPr/>
          <p:nvPr/>
        </p:nvCxnSpPr>
        <p:spPr>
          <a:xfrm flipV="1">
            <a:off x="4129548" y="3146323"/>
            <a:ext cx="393291" cy="314632"/>
          </a:xfrm>
          <a:prstGeom prst="curvedConnector3">
            <a:avLst>
              <a:gd name="adj1" fmla="val -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curvado 13"/>
          <p:cNvCxnSpPr/>
          <p:nvPr/>
        </p:nvCxnSpPr>
        <p:spPr>
          <a:xfrm flipV="1">
            <a:off x="5106219" y="3154492"/>
            <a:ext cx="393291" cy="314632"/>
          </a:xfrm>
          <a:prstGeom prst="curvedConnector3">
            <a:avLst>
              <a:gd name="adj1" fmla="val -333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curvado 14"/>
          <p:cNvCxnSpPr/>
          <p:nvPr/>
        </p:nvCxnSpPr>
        <p:spPr>
          <a:xfrm rot="10800000" flipV="1">
            <a:off x="5171767" y="3250091"/>
            <a:ext cx="445732" cy="268916"/>
          </a:xfrm>
          <a:prstGeom prst="curvedConnector3">
            <a:avLst>
              <a:gd name="adj1" fmla="val 176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curvado 21"/>
          <p:cNvCxnSpPr/>
          <p:nvPr/>
        </p:nvCxnSpPr>
        <p:spPr>
          <a:xfrm flipV="1">
            <a:off x="6043565" y="3161052"/>
            <a:ext cx="393291" cy="314632"/>
          </a:xfrm>
          <a:prstGeom prst="curvedConnector3">
            <a:avLst>
              <a:gd name="adj1" fmla="val -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curvado 22"/>
          <p:cNvCxnSpPr/>
          <p:nvPr/>
        </p:nvCxnSpPr>
        <p:spPr>
          <a:xfrm rot="10800000" flipV="1">
            <a:off x="6109114" y="3256651"/>
            <a:ext cx="445732" cy="268916"/>
          </a:xfrm>
          <a:prstGeom prst="curvedConnector3">
            <a:avLst>
              <a:gd name="adj1" fmla="val 176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curvado 23"/>
          <p:cNvCxnSpPr/>
          <p:nvPr/>
        </p:nvCxnSpPr>
        <p:spPr>
          <a:xfrm flipV="1">
            <a:off x="7085784" y="3128284"/>
            <a:ext cx="393291" cy="314632"/>
          </a:xfrm>
          <a:prstGeom prst="curvedConnector3">
            <a:avLst>
              <a:gd name="adj1" fmla="val -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curvado 24"/>
          <p:cNvCxnSpPr/>
          <p:nvPr/>
        </p:nvCxnSpPr>
        <p:spPr>
          <a:xfrm rot="10800000" flipV="1">
            <a:off x="7151333" y="3223883"/>
            <a:ext cx="445732" cy="268916"/>
          </a:xfrm>
          <a:prstGeom prst="curvedConnector3">
            <a:avLst>
              <a:gd name="adj1" fmla="val 176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curvado 25"/>
          <p:cNvCxnSpPr/>
          <p:nvPr/>
        </p:nvCxnSpPr>
        <p:spPr>
          <a:xfrm flipV="1">
            <a:off x="8036235" y="3134844"/>
            <a:ext cx="393291" cy="314632"/>
          </a:xfrm>
          <a:prstGeom prst="curvedConnector3">
            <a:avLst>
              <a:gd name="adj1" fmla="val -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curvado 26"/>
          <p:cNvCxnSpPr/>
          <p:nvPr/>
        </p:nvCxnSpPr>
        <p:spPr>
          <a:xfrm rot="10800000" flipV="1">
            <a:off x="8101783" y="3230443"/>
            <a:ext cx="445732" cy="268916"/>
          </a:xfrm>
          <a:prstGeom prst="curvedConnector3">
            <a:avLst>
              <a:gd name="adj1" fmla="val 176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curvado 27"/>
          <p:cNvCxnSpPr/>
          <p:nvPr/>
        </p:nvCxnSpPr>
        <p:spPr>
          <a:xfrm flipV="1">
            <a:off x="8078839" y="3192908"/>
            <a:ext cx="393291" cy="314632"/>
          </a:xfrm>
          <a:prstGeom prst="curvedConnector3">
            <a:avLst>
              <a:gd name="adj1" fmla="val -333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curvado 28"/>
          <p:cNvCxnSpPr/>
          <p:nvPr/>
        </p:nvCxnSpPr>
        <p:spPr>
          <a:xfrm rot="10800000" flipV="1">
            <a:off x="8144387" y="3288507"/>
            <a:ext cx="445732" cy="268916"/>
          </a:xfrm>
          <a:prstGeom prst="curvedConnector3">
            <a:avLst>
              <a:gd name="adj1" fmla="val 17647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curvado 29"/>
          <p:cNvCxnSpPr/>
          <p:nvPr/>
        </p:nvCxnSpPr>
        <p:spPr>
          <a:xfrm flipV="1">
            <a:off x="7128391" y="3186359"/>
            <a:ext cx="393291" cy="314632"/>
          </a:xfrm>
          <a:prstGeom prst="curvedConnector3">
            <a:avLst>
              <a:gd name="adj1" fmla="val -333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curvado 30"/>
          <p:cNvCxnSpPr/>
          <p:nvPr/>
        </p:nvCxnSpPr>
        <p:spPr>
          <a:xfrm flipV="1">
            <a:off x="4122999" y="6338531"/>
            <a:ext cx="393291" cy="314632"/>
          </a:xfrm>
          <a:prstGeom prst="curvedConnector3">
            <a:avLst>
              <a:gd name="adj1" fmla="val -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curvado 31"/>
          <p:cNvCxnSpPr/>
          <p:nvPr/>
        </p:nvCxnSpPr>
        <p:spPr>
          <a:xfrm flipV="1">
            <a:off x="5099669" y="6346700"/>
            <a:ext cx="393291" cy="314632"/>
          </a:xfrm>
          <a:prstGeom prst="curvedConnector3">
            <a:avLst>
              <a:gd name="adj1" fmla="val -333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curvado 32"/>
          <p:cNvCxnSpPr/>
          <p:nvPr/>
        </p:nvCxnSpPr>
        <p:spPr>
          <a:xfrm rot="10800000" flipV="1">
            <a:off x="5165218" y="6442299"/>
            <a:ext cx="445732" cy="268916"/>
          </a:xfrm>
          <a:prstGeom prst="curvedConnector3">
            <a:avLst>
              <a:gd name="adj1" fmla="val 176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curvado 33"/>
          <p:cNvCxnSpPr/>
          <p:nvPr/>
        </p:nvCxnSpPr>
        <p:spPr>
          <a:xfrm flipV="1">
            <a:off x="6037016" y="6353260"/>
            <a:ext cx="393291" cy="314632"/>
          </a:xfrm>
          <a:prstGeom prst="curvedConnector3">
            <a:avLst>
              <a:gd name="adj1" fmla="val -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curvado 34"/>
          <p:cNvCxnSpPr/>
          <p:nvPr/>
        </p:nvCxnSpPr>
        <p:spPr>
          <a:xfrm rot="10800000" flipV="1">
            <a:off x="6102565" y="6448859"/>
            <a:ext cx="445732" cy="268916"/>
          </a:xfrm>
          <a:prstGeom prst="curvedConnector3">
            <a:avLst>
              <a:gd name="adj1" fmla="val 176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curvado 35"/>
          <p:cNvCxnSpPr/>
          <p:nvPr/>
        </p:nvCxnSpPr>
        <p:spPr>
          <a:xfrm flipV="1">
            <a:off x="7079235" y="6320492"/>
            <a:ext cx="393291" cy="314632"/>
          </a:xfrm>
          <a:prstGeom prst="curvedConnector3">
            <a:avLst>
              <a:gd name="adj1" fmla="val -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curvado 36"/>
          <p:cNvCxnSpPr/>
          <p:nvPr/>
        </p:nvCxnSpPr>
        <p:spPr>
          <a:xfrm rot="10800000" flipV="1">
            <a:off x="7144783" y="6416091"/>
            <a:ext cx="445732" cy="268916"/>
          </a:xfrm>
          <a:prstGeom prst="curvedConnector3">
            <a:avLst>
              <a:gd name="adj1" fmla="val 176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curvado 37"/>
          <p:cNvCxnSpPr/>
          <p:nvPr/>
        </p:nvCxnSpPr>
        <p:spPr>
          <a:xfrm flipV="1">
            <a:off x="8029685" y="6327052"/>
            <a:ext cx="393291" cy="314632"/>
          </a:xfrm>
          <a:prstGeom prst="curvedConnector3">
            <a:avLst>
              <a:gd name="adj1" fmla="val -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curvado 38"/>
          <p:cNvCxnSpPr/>
          <p:nvPr/>
        </p:nvCxnSpPr>
        <p:spPr>
          <a:xfrm rot="10800000" flipV="1">
            <a:off x="8095234" y="6422651"/>
            <a:ext cx="445732" cy="268916"/>
          </a:xfrm>
          <a:prstGeom prst="curvedConnector3">
            <a:avLst>
              <a:gd name="adj1" fmla="val 176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curvado 39"/>
          <p:cNvCxnSpPr/>
          <p:nvPr/>
        </p:nvCxnSpPr>
        <p:spPr>
          <a:xfrm flipV="1">
            <a:off x="8072289" y="6385116"/>
            <a:ext cx="393291" cy="314632"/>
          </a:xfrm>
          <a:prstGeom prst="curvedConnector3">
            <a:avLst>
              <a:gd name="adj1" fmla="val -333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curvado 40"/>
          <p:cNvCxnSpPr/>
          <p:nvPr/>
        </p:nvCxnSpPr>
        <p:spPr>
          <a:xfrm rot="10800000" flipV="1">
            <a:off x="8137838" y="6480715"/>
            <a:ext cx="445732" cy="268916"/>
          </a:xfrm>
          <a:prstGeom prst="curvedConnector3">
            <a:avLst>
              <a:gd name="adj1" fmla="val 17647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curvado 41"/>
          <p:cNvCxnSpPr/>
          <p:nvPr/>
        </p:nvCxnSpPr>
        <p:spPr>
          <a:xfrm flipV="1">
            <a:off x="7121841" y="6378567"/>
            <a:ext cx="393291" cy="314632"/>
          </a:xfrm>
          <a:prstGeom prst="curvedConnector3">
            <a:avLst>
              <a:gd name="adj1" fmla="val -333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ángulo 42"/>
          <p:cNvSpPr/>
          <p:nvPr/>
        </p:nvSpPr>
        <p:spPr>
          <a:xfrm>
            <a:off x="10458238" y="4570743"/>
            <a:ext cx="10695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 smtClean="0"/>
              <a:t>Garba </a:t>
            </a:r>
          </a:p>
          <a:p>
            <a:r>
              <a:rPr lang="es-ES" dirty="0" err="1" smtClean="0"/>
              <a:t>Guracha</a:t>
            </a:r>
            <a:endParaRPr lang="es-ES" dirty="0"/>
          </a:p>
        </p:txBody>
      </p:sp>
      <p:sp>
        <p:nvSpPr>
          <p:cNvPr id="44" name="Rectángulo 43"/>
          <p:cNvSpPr/>
          <p:nvPr/>
        </p:nvSpPr>
        <p:spPr>
          <a:xfrm>
            <a:off x="10458238" y="1410121"/>
            <a:ext cx="10951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 smtClean="0"/>
              <a:t>Basa de</a:t>
            </a:r>
          </a:p>
          <a:p>
            <a:r>
              <a:rPr lang="es-ES" dirty="0" smtClean="0"/>
              <a:t>La Mora </a:t>
            </a:r>
          </a:p>
        </p:txBody>
      </p:sp>
    </p:spTree>
    <p:extLst>
      <p:ext uri="{BB962C8B-B14F-4D97-AF65-F5344CB8AC3E}">
        <p14:creationId xmlns:p14="http://schemas.microsoft.com/office/powerpoint/2010/main" val="13228127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ta Charts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E35A1"/>
      </a:accent1>
      <a:accent2>
        <a:srgbClr val="0C79F3"/>
      </a:accent2>
      <a:accent3>
        <a:srgbClr val="00D4F0"/>
      </a:accent3>
      <a:accent4>
        <a:srgbClr val="2170B7"/>
      </a:accent4>
      <a:accent5>
        <a:srgbClr val="59A7FF"/>
      </a:accent5>
      <a:accent6>
        <a:srgbClr val="07155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Data Charts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E35A1"/>
      </a:accent1>
      <a:accent2>
        <a:srgbClr val="0C79F3"/>
      </a:accent2>
      <a:accent3>
        <a:srgbClr val="00D4F0"/>
      </a:accent3>
      <a:accent4>
        <a:srgbClr val="2170B7"/>
      </a:accent4>
      <a:accent5>
        <a:srgbClr val="59A7FF"/>
      </a:accent5>
      <a:accent6>
        <a:srgbClr val="07155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Data Charts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E35A1"/>
      </a:accent1>
      <a:accent2>
        <a:srgbClr val="0C79F3"/>
      </a:accent2>
      <a:accent3>
        <a:srgbClr val="00D4F0"/>
      </a:accent3>
      <a:accent4>
        <a:srgbClr val="2170B7"/>
      </a:accent4>
      <a:accent5>
        <a:srgbClr val="59A7FF"/>
      </a:accent5>
      <a:accent6>
        <a:srgbClr val="07155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Data Charts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E35A1"/>
      </a:accent1>
      <a:accent2>
        <a:srgbClr val="0C79F3"/>
      </a:accent2>
      <a:accent3>
        <a:srgbClr val="00D4F0"/>
      </a:accent3>
      <a:accent4>
        <a:srgbClr val="2170B7"/>
      </a:accent4>
      <a:accent5>
        <a:srgbClr val="59A7FF"/>
      </a:accent5>
      <a:accent6>
        <a:srgbClr val="07155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Data Charts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E35A1"/>
      </a:accent1>
      <a:accent2>
        <a:srgbClr val="0C79F3"/>
      </a:accent2>
      <a:accent3>
        <a:srgbClr val="00D4F0"/>
      </a:accent3>
      <a:accent4>
        <a:srgbClr val="2170B7"/>
      </a:accent4>
      <a:accent5>
        <a:srgbClr val="59A7FF"/>
      </a:accent5>
      <a:accent6>
        <a:srgbClr val="07155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5_Data Charts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E35A1"/>
      </a:accent1>
      <a:accent2>
        <a:srgbClr val="0C79F3"/>
      </a:accent2>
      <a:accent3>
        <a:srgbClr val="00D4F0"/>
      </a:accent3>
      <a:accent4>
        <a:srgbClr val="2170B7"/>
      </a:accent4>
      <a:accent5>
        <a:srgbClr val="59A7FF"/>
      </a:accent5>
      <a:accent6>
        <a:srgbClr val="07155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6_Data Charts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E35A1"/>
      </a:accent1>
      <a:accent2>
        <a:srgbClr val="0C79F3"/>
      </a:accent2>
      <a:accent3>
        <a:srgbClr val="00D4F0"/>
      </a:accent3>
      <a:accent4>
        <a:srgbClr val="2170B7"/>
      </a:accent4>
      <a:accent5>
        <a:srgbClr val="59A7FF"/>
      </a:accent5>
      <a:accent6>
        <a:srgbClr val="07155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7_Data Charts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E35A1"/>
      </a:accent1>
      <a:accent2>
        <a:srgbClr val="0C79F3"/>
      </a:accent2>
      <a:accent3>
        <a:srgbClr val="00D4F0"/>
      </a:accent3>
      <a:accent4>
        <a:srgbClr val="2170B7"/>
      </a:accent4>
      <a:accent5>
        <a:srgbClr val="59A7FF"/>
      </a:accent5>
      <a:accent6>
        <a:srgbClr val="07155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8_Data Charts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E35A1"/>
      </a:accent1>
      <a:accent2>
        <a:srgbClr val="0C79F3"/>
      </a:accent2>
      <a:accent3>
        <a:srgbClr val="00D4F0"/>
      </a:accent3>
      <a:accent4>
        <a:srgbClr val="2170B7"/>
      </a:accent4>
      <a:accent5>
        <a:srgbClr val="59A7FF"/>
      </a:accent5>
      <a:accent6>
        <a:srgbClr val="07155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184</Words>
  <Application>Microsoft Office PowerPoint</Application>
  <PresentationFormat>Panorámica</PresentationFormat>
  <Paragraphs>51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10</vt:i4>
      </vt:variant>
      <vt:variant>
        <vt:lpstr>Títulos de diapositiva</vt:lpstr>
      </vt:variant>
      <vt:variant>
        <vt:i4>11</vt:i4>
      </vt:variant>
    </vt:vector>
  </HeadingPairs>
  <TitlesOfParts>
    <vt:vector size="26" baseType="lpstr">
      <vt:lpstr>Arial</vt:lpstr>
      <vt:lpstr>Calibri</vt:lpstr>
      <vt:lpstr>Calibri Light</vt:lpstr>
      <vt:lpstr>Fira Sans Extra Condensed Medium</vt:lpstr>
      <vt:lpstr>Roboto</vt:lpstr>
      <vt:lpstr>Tema de Office</vt:lpstr>
      <vt:lpstr>Data Charts Infographics by Slidesgo</vt:lpstr>
      <vt:lpstr>1_Data Charts Infographics by Slidesgo</vt:lpstr>
      <vt:lpstr>2_Data Charts Infographics by Slidesgo</vt:lpstr>
      <vt:lpstr>3_Data Charts Infographics by Slidesgo</vt:lpstr>
      <vt:lpstr>4_Data Charts Infographics by Slidesgo</vt:lpstr>
      <vt:lpstr>5_Data Charts Infographics by Slidesgo</vt:lpstr>
      <vt:lpstr>6_Data Charts Infographics by Slidesgo</vt:lpstr>
      <vt:lpstr>7_Data Charts Infographics by Slidesgo</vt:lpstr>
      <vt:lpstr>8_Data Charts Infographics by Slidesgo</vt:lpstr>
      <vt:lpstr>RESULTADOS COARSE NETWORKS</vt:lpstr>
      <vt:lpstr>Temporalidad Basa de la Mora</vt:lpstr>
      <vt:lpstr>Temporalidad Basa de la Mora</vt:lpstr>
      <vt:lpstr>Temporalidad Garba Guracha</vt:lpstr>
      <vt:lpstr>Temporalidad Garba Guracha</vt:lpstr>
      <vt:lpstr>Temporalidad comparada con Configuration Model</vt:lpstr>
      <vt:lpstr>Temporalidad Media</vt:lpstr>
      <vt:lpstr>Reciprocidad y CM</vt:lpstr>
      <vt:lpstr>Reciprocidad por comunidades Basa de la Mora</vt:lpstr>
      <vt:lpstr>K_in k_out  Basa de  la Mora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Cuenta Microsoft</dc:creator>
  <cp:lastModifiedBy>Cuenta Microsoft</cp:lastModifiedBy>
  <cp:revision>8</cp:revision>
  <dcterms:created xsi:type="dcterms:W3CDTF">2026-06-09T16:09:41Z</dcterms:created>
  <dcterms:modified xsi:type="dcterms:W3CDTF">2026-06-09T16:48:42Z</dcterms:modified>
</cp:coreProperties>
</file>