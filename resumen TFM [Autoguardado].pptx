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4"/>
  </p:notesMasterIdLst>
  <p:sldIdLst>
    <p:sldId id="256" r:id="rId2"/>
    <p:sldId id="290" r:id="rId3"/>
    <p:sldId id="291" r:id="rId4"/>
    <p:sldId id="292" r:id="rId5"/>
    <p:sldId id="300" r:id="rId6"/>
    <p:sldId id="301" r:id="rId7"/>
    <p:sldId id="298" r:id="rId8"/>
    <p:sldId id="299" r:id="rId9"/>
    <p:sldId id="326" r:id="rId10"/>
    <p:sldId id="325" r:id="rId11"/>
    <p:sldId id="334" r:id="rId12"/>
    <p:sldId id="322" r:id="rId13"/>
    <p:sldId id="335" r:id="rId14"/>
    <p:sldId id="309" r:id="rId15"/>
    <p:sldId id="329" r:id="rId16"/>
    <p:sldId id="317" r:id="rId17"/>
    <p:sldId id="318" r:id="rId18"/>
    <p:sldId id="324" r:id="rId19"/>
    <p:sldId id="330" r:id="rId20"/>
    <p:sldId id="338" r:id="rId21"/>
    <p:sldId id="331" r:id="rId22"/>
    <p:sldId id="311" r:id="rId23"/>
    <p:sldId id="323" r:id="rId24"/>
    <p:sldId id="328" r:id="rId25"/>
    <p:sldId id="315" r:id="rId26"/>
    <p:sldId id="316" r:id="rId27"/>
    <p:sldId id="332" r:id="rId28"/>
    <p:sldId id="333" r:id="rId29"/>
    <p:sldId id="321" r:id="rId30"/>
    <p:sldId id="314" r:id="rId31"/>
    <p:sldId id="336" r:id="rId32"/>
    <p:sldId id="337" r:id="rId33"/>
    <p:sldId id="319" r:id="rId34"/>
    <p:sldId id="320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10" r:id="rId43"/>
  </p:sldIdLst>
  <p:sldSz cx="9144000" cy="5143500" type="screen16x9"/>
  <p:notesSz cx="6858000" cy="9144000"/>
  <p:embeddedFontLst>
    <p:embeddedFont>
      <p:font typeface="Roboto" panose="020B0604020202020204" charset="0"/>
      <p:regular r:id="rId45"/>
      <p:bold r:id="rId46"/>
      <p:italic r:id="rId47"/>
      <p:boldItalic r:id="rId48"/>
    </p:embeddedFont>
    <p:embeddedFont>
      <p:font typeface="Fira Sans Extra Condensed Medium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28224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ea72f4a77_6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ea72f4a77_6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034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187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24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29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0280" y="536650"/>
            <a:ext cx="49182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0275" y="2589250"/>
            <a:ext cx="49182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483675" y="1031250"/>
            <a:ext cx="8203200" cy="36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83675" y="1031250"/>
            <a:ext cx="8203200" cy="36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262">
          <p15:clr>
            <a:srgbClr val="EA4335"/>
          </p15:clr>
        </p15:guide>
        <p15:guide id="6" orient="horz" pos="29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1724988" y="947725"/>
            <a:ext cx="5694000" cy="90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tx1"/>
                </a:solidFill>
              </a:rPr>
              <a:t>resumen resultados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1724988" y="1784475"/>
            <a:ext cx="5694000" cy="3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 smtClean="0">
                <a:solidFill>
                  <a:schemeClr val="tx1"/>
                </a:solidFill>
              </a:rPr>
              <a:t>Ana C</a:t>
            </a:r>
            <a:r>
              <a:rPr lang="es-ES" sz="1700" dirty="0" smtClean="0">
                <a:solidFill>
                  <a:schemeClr val="tx1"/>
                </a:solidFill>
              </a:rPr>
              <a:t>a</a:t>
            </a:r>
            <a:r>
              <a:rPr lang="en" sz="1700" dirty="0" smtClean="0">
                <a:solidFill>
                  <a:schemeClr val="tx1"/>
                </a:solidFill>
              </a:rPr>
              <a:t>no Herranz</a:t>
            </a:r>
            <a:endParaRPr sz="1700" dirty="0">
              <a:solidFill>
                <a:schemeClr val="tx1"/>
              </a:solidFill>
            </a:endParaRPr>
          </a:p>
        </p:txBody>
      </p:sp>
      <p:grpSp>
        <p:nvGrpSpPr>
          <p:cNvPr id="57" name="Google Shape;57;p15"/>
          <p:cNvGrpSpPr/>
          <p:nvPr/>
        </p:nvGrpSpPr>
        <p:grpSpPr>
          <a:xfrm>
            <a:off x="24639" y="3630257"/>
            <a:ext cx="9020998" cy="1562983"/>
            <a:chOff x="711150" y="1559663"/>
            <a:chExt cx="7721575" cy="2350013"/>
          </a:xfrm>
        </p:grpSpPr>
        <p:sp>
          <p:nvSpPr>
            <p:cNvPr id="58" name="Google Shape;58;p15"/>
            <p:cNvSpPr/>
            <p:nvPr/>
          </p:nvSpPr>
          <p:spPr>
            <a:xfrm>
              <a:off x="711150" y="1595125"/>
              <a:ext cx="7721575" cy="2314550"/>
            </a:xfrm>
            <a:custGeom>
              <a:avLst/>
              <a:gdLst/>
              <a:ahLst/>
              <a:cxnLst/>
              <a:rect l="l" t="t" r="r" b="b"/>
              <a:pathLst>
                <a:path w="308863" h="92582" extrusionOk="0">
                  <a:moveTo>
                    <a:pt x="0" y="92445"/>
                  </a:moveTo>
                  <a:lnTo>
                    <a:pt x="24529" y="34740"/>
                  </a:lnTo>
                  <a:lnTo>
                    <a:pt x="73382" y="80857"/>
                  </a:lnTo>
                  <a:lnTo>
                    <a:pt x="97740" y="23146"/>
                  </a:lnTo>
                  <a:lnTo>
                    <a:pt x="122133" y="46302"/>
                  </a:lnTo>
                  <a:lnTo>
                    <a:pt x="146543" y="0"/>
                  </a:lnTo>
                  <a:lnTo>
                    <a:pt x="195411" y="69356"/>
                  </a:lnTo>
                  <a:lnTo>
                    <a:pt x="219734" y="57794"/>
                  </a:lnTo>
                  <a:lnTo>
                    <a:pt x="244161" y="80952"/>
                  </a:lnTo>
                  <a:lnTo>
                    <a:pt x="268621" y="11652"/>
                  </a:lnTo>
                  <a:lnTo>
                    <a:pt x="293020" y="44"/>
                  </a:lnTo>
                  <a:lnTo>
                    <a:pt x="308863" y="92582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" name="Google Shape;59;p15"/>
            <p:cNvSpPr/>
            <p:nvPr/>
          </p:nvSpPr>
          <p:spPr>
            <a:xfrm>
              <a:off x="1287538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1897863" y="30035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2508163" y="358078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3118475" y="21377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3728788" y="2714950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4339088" y="1559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4949400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5559713" y="32921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6170025" y="3006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6780338" y="35807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7390650" y="18491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8006675" y="15596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15"/>
          <p:cNvGrpSpPr/>
          <p:nvPr/>
        </p:nvGrpSpPr>
        <p:grpSpPr>
          <a:xfrm>
            <a:off x="24639" y="2664804"/>
            <a:ext cx="9129855" cy="2519041"/>
            <a:chOff x="710288" y="2137750"/>
            <a:chExt cx="7717992" cy="1803050"/>
          </a:xfrm>
        </p:grpSpPr>
        <p:sp>
          <p:nvSpPr>
            <p:cNvPr id="72" name="Google Shape;72;p15"/>
            <p:cNvSpPr/>
            <p:nvPr/>
          </p:nvSpPr>
          <p:spPr>
            <a:xfrm>
              <a:off x="710288" y="2172905"/>
              <a:ext cx="7717992" cy="1739465"/>
            </a:xfrm>
            <a:custGeom>
              <a:avLst/>
              <a:gdLst/>
              <a:ahLst/>
              <a:cxnLst/>
              <a:rect l="l" t="t" r="r" b="b"/>
              <a:pathLst>
                <a:path w="214429" h="48295" extrusionOk="0">
                  <a:moveTo>
                    <a:pt x="0" y="48101"/>
                  </a:moveTo>
                  <a:lnTo>
                    <a:pt x="17026" y="32099"/>
                  </a:lnTo>
                  <a:lnTo>
                    <a:pt x="33957" y="40100"/>
                  </a:lnTo>
                  <a:lnTo>
                    <a:pt x="50912" y="8072"/>
                  </a:lnTo>
                  <a:lnTo>
                    <a:pt x="67890" y="48077"/>
                  </a:lnTo>
                  <a:lnTo>
                    <a:pt x="84797" y="24003"/>
                  </a:lnTo>
                  <a:lnTo>
                    <a:pt x="101751" y="32099"/>
                  </a:lnTo>
                  <a:lnTo>
                    <a:pt x="118658" y="24122"/>
                  </a:lnTo>
                  <a:lnTo>
                    <a:pt x="135613" y="8025"/>
                  </a:lnTo>
                  <a:lnTo>
                    <a:pt x="152591" y="0"/>
                  </a:lnTo>
                  <a:lnTo>
                    <a:pt x="169522" y="24098"/>
                  </a:lnTo>
                  <a:lnTo>
                    <a:pt x="186500" y="32194"/>
                  </a:lnTo>
                  <a:lnTo>
                    <a:pt x="203611" y="16042"/>
                  </a:lnTo>
                  <a:lnTo>
                    <a:pt x="214429" y="48295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3" name="Google Shape;73;p15"/>
            <p:cNvSpPr/>
            <p:nvPr/>
          </p:nvSpPr>
          <p:spPr>
            <a:xfrm>
              <a:off x="8000975" y="27185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7390663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678032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170038" y="213775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559700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4949413" y="300693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4339088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72877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3118475" y="386940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2508163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897850" y="35807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287538" y="32921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dirty="0" smtClean="0"/>
              <a:t>GAM</a:t>
            </a:r>
            <a:endParaRPr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21" y="1073150"/>
            <a:ext cx="6804783" cy="357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dirty="0" smtClean="0"/>
              <a:t>GRANGER CAUSALITY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108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dirty="0" smtClean="0"/>
              <a:t>BOOTSTRAP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11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Número links según filtro de abundancia mínima de polen 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1" y="1453884"/>
            <a:ext cx="4227669" cy="31539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663" y="1453884"/>
            <a:ext cx="4232212" cy="31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02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Número links según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308" y="1498914"/>
            <a:ext cx="4176493" cy="31157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12" y="1478744"/>
            <a:ext cx="4314511" cy="321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11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Redes por comunidades. Delta y condicionales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78" y="1201271"/>
            <a:ext cx="8785593" cy="29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7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Porcentaje de links negativos según umbral de p valor. 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56" y="1028980"/>
            <a:ext cx="5997178" cy="36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60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Garba </a:t>
            </a:r>
            <a:r>
              <a:rPr lang="es-ES" dirty="0" err="1" smtClean="0"/>
              <a:t>Guracha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31" y="1260311"/>
            <a:ext cx="8770550" cy="291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84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Garba </a:t>
            </a:r>
            <a:r>
              <a:rPr lang="es-ES" dirty="0" err="1" smtClean="0"/>
              <a:t>Guracha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846" y="656024"/>
            <a:ext cx="5602029" cy="417929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2983" y="1159758"/>
            <a:ext cx="425159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9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7198" y="297438"/>
            <a:ext cx="8203200" cy="481200"/>
          </a:xfrm>
        </p:spPr>
        <p:txBody>
          <a:bodyPr/>
          <a:lstStyle/>
          <a:p>
            <a:pPr algn="ctr"/>
            <a:r>
              <a:rPr lang="es-ES" dirty="0" smtClean="0"/>
              <a:t>Basa de la mora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947" y="1504335"/>
            <a:ext cx="4048962" cy="302065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81" y="1440425"/>
            <a:ext cx="4220294" cy="314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338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Porcentaje de links negativos según umbral de p valor. 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4888"/>
            <a:ext cx="4501593" cy="288131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75" y="1182689"/>
            <a:ext cx="4347058" cy="278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9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Porcentaje de links negativos según umbral de p valor. 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43" y="1612490"/>
            <a:ext cx="4217862" cy="254857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75" y="1486120"/>
            <a:ext cx="4376614" cy="280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5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Basa de la Mora</a:t>
            </a: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6572567" y="1060162"/>
            <a:ext cx="1786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1 - 2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D+s</a:t>
            </a:r>
            <a:r>
              <a:rPr lang="es-ES" sz="1200" dirty="0" smtClean="0"/>
              <a:t> = 0.20</a:t>
            </a:r>
          </a:p>
          <a:p>
            <a:r>
              <a:rPr lang="es-ES" sz="1200" dirty="0" err="1" smtClean="0"/>
              <a:t>D+no_s</a:t>
            </a:r>
            <a:r>
              <a:rPr lang="es-ES" sz="1200" dirty="0" smtClean="0"/>
              <a:t> = 0.40</a:t>
            </a:r>
          </a:p>
          <a:p>
            <a:r>
              <a:rPr lang="es-ES" sz="1200" dirty="0" err="1" smtClean="0"/>
              <a:t>No_d+no_s</a:t>
            </a:r>
            <a:r>
              <a:rPr lang="es-ES" sz="1200" dirty="0" smtClean="0"/>
              <a:t> = 0.62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6572567" y="2349014"/>
            <a:ext cx="1786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2 - 3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D+s</a:t>
            </a:r>
            <a:r>
              <a:rPr lang="es-ES" sz="1200" dirty="0" smtClean="0"/>
              <a:t> = 0.17</a:t>
            </a:r>
          </a:p>
          <a:p>
            <a:r>
              <a:rPr lang="es-ES" sz="1200" dirty="0" err="1" smtClean="0"/>
              <a:t>D+no_s</a:t>
            </a:r>
            <a:r>
              <a:rPr lang="es-ES" sz="1200" dirty="0" smtClean="0"/>
              <a:t> = 0.43</a:t>
            </a:r>
          </a:p>
          <a:p>
            <a:r>
              <a:rPr lang="es-ES" sz="1200" dirty="0" err="1" smtClean="0"/>
              <a:t>No_d+no_s</a:t>
            </a:r>
            <a:r>
              <a:rPr lang="es-ES" sz="1200" dirty="0" smtClean="0"/>
              <a:t> = 0.61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79" y="1253326"/>
            <a:ext cx="5170531" cy="3207038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6572567" y="3572832"/>
            <a:ext cx="1786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1 - 3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D+s</a:t>
            </a:r>
            <a:r>
              <a:rPr lang="es-ES" sz="1200" dirty="0" smtClean="0"/>
              <a:t> = 0.12</a:t>
            </a:r>
          </a:p>
          <a:p>
            <a:r>
              <a:rPr lang="es-ES" sz="1200" dirty="0" err="1" smtClean="0"/>
              <a:t>D+no_s</a:t>
            </a:r>
            <a:r>
              <a:rPr lang="es-ES" sz="1200" dirty="0" smtClean="0"/>
              <a:t> = 0.25</a:t>
            </a:r>
          </a:p>
          <a:p>
            <a:r>
              <a:rPr lang="es-ES" sz="1200" dirty="0" err="1" smtClean="0"/>
              <a:t>No_d+no_s</a:t>
            </a:r>
            <a:r>
              <a:rPr lang="es-ES" sz="1200" dirty="0" smtClean="0"/>
              <a:t> = 0.46</a:t>
            </a:r>
          </a:p>
        </p:txBody>
      </p:sp>
    </p:spTree>
    <p:extLst>
      <p:ext uri="{BB962C8B-B14F-4D97-AF65-F5344CB8AC3E}">
        <p14:creationId xmlns:p14="http://schemas.microsoft.com/office/powerpoint/2010/main" val="2792178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Basa de la Mora </a:t>
            </a:r>
            <a:r>
              <a:rPr lang="es-ES" dirty="0" err="1" smtClean="0"/>
              <a:t>norm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099" y="1014101"/>
            <a:ext cx="6077465" cy="376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2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GG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1" y="1465791"/>
            <a:ext cx="4380054" cy="271674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275" y="110153"/>
            <a:ext cx="3862907" cy="239598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612" y="2506133"/>
            <a:ext cx="3611370" cy="223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02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64" y="2885656"/>
            <a:ext cx="7166623" cy="204194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6" y="896625"/>
            <a:ext cx="7249160" cy="206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78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 GG normalizada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08" y="1608667"/>
            <a:ext cx="8738287" cy="201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70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80" y="3088064"/>
            <a:ext cx="7847554" cy="205543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72" y="896625"/>
            <a:ext cx="8188171" cy="21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8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5610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Temporalidad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47800"/>
            <a:ext cx="4265881" cy="264592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" y="1447800"/>
            <a:ext cx="4269144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59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75" y="978322"/>
            <a:ext cx="3271458" cy="202913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40" y="3007454"/>
            <a:ext cx="2738160" cy="169835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275" y="739847"/>
            <a:ext cx="3389938" cy="210262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485" y="2834847"/>
            <a:ext cx="3294728" cy="2043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17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 GG normalizada</a:t>
            </a:r>
            <a:endParaRPr lang="es-ES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109" y="1210546"/>
            <a:ext cx="4683170" cy="258127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95" y="1210546"/>
            <a:ext cx="4018962" cy="249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24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 Basa Mora normalizada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870" y="1566333"/>
            <a:ext cx="4736933" cy="261090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" y="1566333"/>
            <a:ext cx="3990975" cy="247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89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33" y="1092758"/>
            <a:ext cx="7603284" cy="358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30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98" y="1408702"/>
            <a:ext cx="7400420" cy="234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36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87" y="2940050"/>
            <a:ext cx="7635873" cy="203623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74" y="796290"/>
            <a:ext cx="8039100" cy="21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596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Reciprocidad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2" y="1507545"/>
            <a:ext cx="4354828" cy="240029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33874"/>
            <a:ext cx="4483279" cy="247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92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ESPECIFICIDAD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5" y="1430134"/>
            <a:ext cx="4548040" cy="282093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256" y="1430134"/>
            <a:ext cx="4579744" cy="284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83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K_in</a:t>
            </a:r>
            <a:r>
              <a:rPr lang="es-ES" dirty="0" smtClean="0"/>
              <a:t> </a:t>
            </a:r>
            <a:r>
              <a:rPr lang="es-ES" dirty="0" err="1" smtClean="0"/>
              <a:t>k_out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408" y="178512"/>
            <a:ext cx="5816675" cy="480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42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b="14403"/>
          <a:stretch/>
        </p:blipFill>
        <p:spPr>
          <a:xfrm>
            <a:off x="848480" y="97094"/>
            <a:ext cx="6633868" cy="225281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b="15435"/>
          <a:stretch/>
        </p:blipFill>
        <p:spPr>
          <a:xfrm>
            <a:off x="1593132" y="2670541"/>
            <a:ext cx="5800725" cy="1999782"/>
          </a:xfrm>
          <a:prstGeom prst="rect">
            <a:avLst/>
          </a:prstGeom>
        </p:spPr>
      </p:pic>
      <p:cxnSp>
        <p:nvCxnSpPr>
          <p:cNvPr id="6" name="Conector curvado 5"/>
          <p:cNvCxnSpPr/>
          <p:nvPr/>
        </p:nvCxnSpPr>
        <p:spPr>
          <a:xfrm flipV="1">
            <a:off x="3097161" y="2359742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curvado 13"/>
          <p:cNvCxnSpPr/>
          <p:nvPr/>
        </p:nvCxnSpPr>
        <p:spPr>
          <a:xfrm flipV="1">
            <a:off x="3829664" y="2365869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curvado 14"/>
          <p:cNvCxnSpPr/>
          <p:nvPr/>
        </p:nvCxnSpPr>
        <p:spPr>
          <a:xfrm rot="10800000" flipV="1">
            <a:off x="3878825" y="2437568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curvado 21"/>
          <p:cNvCxnSpPr/>
          <p:nvPr/>
        </p:nvCxnSpPr>
        <p:spPr>
          <a:xfrm flipV="1">
            <a:off x="4532674" y="2370789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curvado 22"/>
          <p:cNvCxnSpPr/>
          <p:nvPr/>
        </p:nvCxnSpPr>
        <p:spPr>
          <a:xfrm rot="10800000" flipV="1">
            <a:off x="4581835" y="2442488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curvado 23"/>
          <p:cNvCxnSpPr/>
          <p:nvPr/>
        </p:nvCxnSpPr>
        <p:spPr>
          <a:xfrm flipV="1">
            <a:off x="5314338" y="2346213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curvado 24"/>
          <p:cNvCxnSpPr/>
          <p:nvPr/>
        </p:nvCxnSpPr>
        <p:spPr>
          <a:xfrm rot="10800000" flipV="1">
            <a:off x="5363499" y="2417912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curvado 25"/>
          <p:cNvCxnSpPr/>
          <p:nvPr/>
        </p:nvCxnSpPr>
        <p:spPr>
          <a:xfrm flipV="1">
            <a:off x="6027176" y="2351133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curvado 26"/>
          <p:cNvCxnSpPr/>
          <p:nvPr/>
        </p:nvCxnSpPr>
        <p:spPr>
          <a:xfrm rot="10800000" flipV="1">
            <a:off x="6076337" y="2422832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curvado 27"/>
          <p:cNvCxnSpPr/>
          <p:nvPr/>
        </p:nvCxnSpPr>
        <p:spPr>
          <a:xfrm flipV="1">
            <a:off x="6059129" y="2394681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curvado 28"/>
          <p:cNvCxnSpPr/>
          <p:nvPr/>
        </p:nvCxnSpPr>
        <p:spPr>
          <a:xfrm rot="10800000" flipV="1">
            <a:off x="6108290" y="2466380"/>
            <a:ext cx="334299" cy="201687"/>
          </a:xfrm>
          <a:prstGeom prst="curvedConnector3">
            <a:avLst>
              <a:gd name="adj1" fmla="val 176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curvado 29"/>
          <p:cNvCxnSpPr/>
          <p:nvPr/>
        </p:nvCxnSpPr>
        <p:spPr>
          <a:xfrm flipV="1">
            <a:off x="5346293" y="2389769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curvado 30"/>
          <p:cNvCxnSpPr/>
          <p:nvPr/>
        </p:nvCxnSpPr>
        <p:spPr>
          <a:xfrm flipV="1">
            <a:off x="3092249" y="4753898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curvado 31"/>
          <p:cNvCxnSpPr/>
          <p:nvPr/>
        </p:nvCxnSpPr>
        <p:spPr>
          <a:xfrm flipV="1">
            <a:off x="3824752" y="4760025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curvado 32"/>
          <p:cNvCxnSpPr/>
          <p:nvPr/>
        </p:nvCxnSpPr>
        <p:spPr>
          <a:xfrm rot="10800000" flipV="1">
            <a:off x="3873913" y="4831724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curvado 33"/>
          <p:cNvCxnSpPr/>
          <p:nvPr/>
        </p:nvCxnSpPr>
        <p:spPr>
          <a:xfrm flipV="1">
            <a:off x="4527762" y="4764945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curvado 34"/>
          <p:cNvCxnSpPr/>
          <p:nvPr/>
        </p:nvCxnSpPr>
        <p:spPr>
          <a:xfrm rot="10800000" flipV="1">
            <a:off x="4576923" y="4836644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curvado 35"/>
          <p:cNvCxnSpPr/>
          <p:nvPr/>
        </p:nvCxnSpPr>
        <p:spPr>
          <a:xfrm flipV="1">
            <a:off x="5309426" y="4740369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curvado 36"/>
          <p:cNvCxnSpPr/>
          <p:nvPr/>
        </p:nvCxnSpPr>
        <p:spPr>
          <a:xfrm rot="10800000" flipV="1">
            <a:off x="5358587" y="4812068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curvado 37"/>
          <p:cNvCxnSpPr/>
          <p:nvPr/>
        </p:nvCxnSpPr>
        <p:spPr>
          <a:xfrm flipV="1">
            <a:off x="6022264" y="4745289"/>
            <a:ext cx="294968" cy="235974"/>
          </a:xfrm>
          <a:prstGeom prst="curvedConnector3">
            <a:avLst>
              <a:gd name="adj1" fmla="val -33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curvado 38"/>
          <p:cNvCxnSpPr/>
          <p:nvPr/>
        </p:nvCxnSpPr>
        <p:spPr>
          <a:xfrm rot="10800000" flipV="1">
            <a:off x="6071425" y="4816988"/>
            <a:ext cx="334299" cy="201687"/>
          </a:xfrm>
          <a:prstGeom prst="curvedConnector3">
            <a:avLst>
              <a:gd name="adj1" fmla="val 17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curvado 39"/>
          <p:cNvCxnSpPr/>
          <p:nvPr/>
        </p:nvCxnSpPr>
        <p:spPr>
          <a:xfrm flipV="1">
            <a:off x="6054217" y="4788837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curvado 40"/>
          <p:cNvCxnSpPr/>
          <p:nvPr/>
        </p:nvCxnSpPr>
        <p:spPr>
          <a:xfrm rot="10800000" flipV="1">
            <a:off x="6103378" y="4860536"/>
            <a:ext cx="334299" cy="201687"/>
          </a:xfrm>
          <a:prstGeom prst="curvedConnector3">
            <a:avLst>
              <a:gd name="adj1" fmla="val 1764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curvado 41"/>
          <p:cNvCxnSpPr/>
          <p:nvPr/>
        </p:nvCxnSpPr>
        <p:spPr>
          <a:xfrm flipV="1">
            <a:off x="5341381" y="4783925"/>
            <a:ext cx="294968" cy="235974"/>
          </a:xfrm>
          <a:prstGeom prst="curvedConnector3">
            <a:avLst>
              <a:gd name="adj1" fmla="val -3333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628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n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671"/>
            <a:ext cx="4649228" cy="2604339"/>
          </a:xfrm>
          <a:prstGeom prst="rect">
            <a:avLst/>
          </a:prstGeom>
        </p:spPr>
      </p:pic>
      <p:pic>
        <p:nvPicPr>
          <p:cNvPr id="66" name="Imagen 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245" y="1484670"/>
            <a:ext cx="4659755" cy="260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71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(Garba </a:t>
            </a:r>
            <a:r>
              <a:rPr lang="es-ES" dirty="0" err="1" smtClean="0"/>
              <a:t>Guracha</a:t>
            </a:r>
            <a:r>
              <a:rPr lang="es-ES" dirty="0" smtClean="0"/>
              <a:t> con pc)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93" y="960969"/>
            <a:ext cx="3923240" cy="392324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598" y="1489166"/>
            <a:ext cx="3568744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78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(Garba </a:t>
            </a:r>
            <a:r>
              <a:rPr lang="es-ES" dirty="0" err="1" smtClean="0"/>
              <a:t>Guracha</a:t>
            </a:r>
            <a:r>
              <a:rPr lang="es-ES" dirty="0" smtClean="0"/>
              <a:t> no pc)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3" y="1210733"/>
            <a:ext cx="4265200" cy="320569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11" y="1168128"/>
            <a:ext cx="3248297" cy="324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29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 smtClean="0"/>
              <a:t>Tramacastilla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373981" y="1770869"/>
            <a:ext cx="17865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VENTANA 1</a:t>
            </a:r>
          </a:p>
          <a:p>
            <a:endParaRPr lang="es-ES" dirty="0" smtClean="0"/>
          </a:p>
          <a:p>
            <a:r>
              <a:rPr lang="es-ES" dirty="0" smtClean="0"/>
              <a:t>11269-</a:t>
            </a:r>
            <a:r>
              <a:rPr lang="es-ES" dirty="0"/>
              <a:t>5078</a:t>
            </a:r>
            <a:r>
              <a:rPr lang="es-ES" dirty="0" smtClean="0"/>
              <a:t> (79-32) 49 puntos</a:t>
            </a:r>
          </a:p>
          <a:p>
            <a:endParaRPr lang="es-ES" dirty="0"/>
          </a:p>
          <a:p>
            <a:r>
              <a:rPr lang="es-ES" dirty="0" smtClean="0"/>
              <a:t>34/40 especies</a:t>
            </a:r>
          </a:p>
          <a:p>
            <a:endParaRPr lang="es-ES" dirty="0"/>
          </a:p>
          <a:p>
            <a:r>
              <a:rPr lang="es-ES" dirty="0" smtClean="0"/>
              <a:t>60 significativos</a:t>
            </a:r>
          </a:p>
          <a:p>
            <a:r>
              <a:rPr lang="es-ES" dirty="0" smtClean="0"/>
              <a:t>6 negativos (10%)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7167185" y="1663146"/>
            <a:ext cx="15196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VENTANA 2</a:t>
            </a:r>
          </a:p>
          <a:p>
            <a:endParaRPr lang="es-ES" dirty="0"/>
          </a:p>
          <a:p>
            <a:r>
              <a:rPr lang="es-ES" dirty="0" smtClean="0"/>
              <a:t>4946-863 (31:0) 32 puntos</a:t>
            </a:r>
          </a:p>
          <a:p>
            <a:endParaRPr lang="es-ES" dirty="0"/>
          </a:p>
          <a:p>
            <a:r>
              <a:rPr lang="es-ES" dirty="0" smtClean="0"/>
              <a:t>34/40 especies</a:t>
            </a:r>
          </a:p>
          <a:p>
            <a:endParaRPr lang="es-ES" dirty="0"/>
          </a:p>
          <a:p>
            <a:r>
              <a:rPr lang="es-ES" dirty="0" smtClean="0"/>
              <a:t>32 significativos</a:t>
            </a:r>
          </a:p>
          <a:p>
            <a:r>
              <a:rPr lang="es-ES" dirty="0"/>
              <a:t>4</a:t>
            </a:r>
            <a:r>
              <a:rPr lang="es-ES" dirty="0" smtClean="0"/>
              <a:t> negativos (12.5%)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95" y="1323302"/>
            <a:ext cx="4788893" cy="302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 smtClean="0"/>
              <a:t>Tramacastilla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373981" y="1770869"/>
            <a:ext cx="17865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VENTANA 1</a:t>
            </a:r>
          </a:p>
          <a:p>
            <a:endParaRPr lang="es-ES" dirty="0" smtClean="0"/>
          </a:p>
          <a:p>
            <a:r>
              <a:rPr lang="es-ES" dirty="0" smtClean="0"/>
              <a:t>11269-</a:t>
            </a:r>
            <a:r>
              <a:rPr lang="es-ES" dirty="0"/>
              <a:t>5078</a:t>
            </a:r>
            <a:r>
              <a:rPr lang="es-ES" dirty="0" smtClean="0"/>
              <a:t> (79-32) 39 puntos</a:t>
            </a:r>
          </a:p>
          <a:p>
            <a:endParaRPr lang="es-ES" dirty="0"/>
          </a:p>
          <a:p>
            <a:r>
              <a:rPr lang="es-ES" dirty="0" smtClean="0"/>
              <a:t>37/40 especies</a:t>
            </a:r>
          </a:p>
          <a:p>
            <a:endParaRPr lang="es-ES" dirty="0"/>
          </a:p>
          <a:p>
            <a:r>
              <a:rPr lang="es-ES" dirty="0" smtClean="0"/>
              <a:t>55 significativos</a:t>
            </a:r>
          </a:p>
          <a:p>
            <a:r>
              <a:rPr lang="es-ES" dirty="0"/>
              <a:t>7</a:t>
            </a:r>
            <a:r>
              <a:rPr lang="es-ES" dirty="0" smtClean="0"/>
              <a:t> negativos (12.73%)</a:t>
            </a:r>
            <a:endParaRPr lang="es-ES" dirty="0"/>
          </a:p>
        </p:txBody>
      </p:sp>
      <p:sp>
        <p:nvSpPr>
          <p:cNvPr id="7" name="CuadroTexto 6"/>
          <p:cNvSpPr txBox="1"/>
          <p:nvPr/>
        </p:nvSpPr>
        <p:spPr>
          <a:xfrm>
            <a:off x="7167185" y="1663146"/>
            <a:ext cx="15196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VENTANA 2</a:t>
            </a:r>
          </a:p>
          <a:p>
            <a:endParaRPr lang="es-ES" dirty="0"/>
          </a:p>
          <a:p>
            <a:r>
              <a:rPr lang="es-ES" dirty="0" smtClean="0"/>
              <a:t>4946-863 (31:0) 42 puntos</a:t>
            </a:r>
          </a:p>
          <a:p>
            <a:endParaRPr lang="es-ES" dirty="0"/>
          </a:p>
          <a:p>
            <a:r>
              <a:rPr lang="es-ES" dirty="0" smtClean="0"/>
              <a:t>37/40 especies</a:t>
            </a:r>
          </a:p>
          <a:p>
            <a:endParaRPr lang="es-ES" dirty="0"/>
          </a:p>
          <a:p>
            <a:r>
              <a:rPr lang="es-ES" dirty="0" smtClean="0"/>
              <a:t>36 significativos</a:t>
            </a:r>
          </a:p>
          <a:p>
            <a:r>
              <a:rPr lang="es-ES" dirty="0" smtClean="0"/>
              <a:t>11 negativos (30.56%)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95" y="1323302"/>
            <a:ext cx="4788893" cy="302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483675" y="901279"/>
            <a:ext cx="17865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0.71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=0.68</a:t>
            </a:r>
          </a:p>
          <a:p>
            <a:r>
              <a:rPr lang="es-ES" sz="1200" dirty="0" err="1" smtClean="0"/>
              <a:t>Balanced</a:t>
            </a:r>
            <a:r>
              <a:rPr lang="es-ES" sz="1200" dirty="0" smtClean="0"/>
              <a:t> </a:t>
            </a:r>
            <a:r>
              <a:rPr lang="es-ES" sz="1200" dirty="0" err="1" smtClean="0"/>
              <a:t>core</a:t>
            </a:r>
            <a:endParaRPr lang="es-ES" sz="1200" dirty="0" smtClean="0"/>
          </a:p>
        </p:txBody>
      </p:sp>
      <p:sp>
        <p:nvSpPr>
          <p:cNvPr id="4" name="CuadroTexto 3"/>
          <p:cNvSpPr txBox="1"/>
          <p:nvPr/>
        </p:nvSpPr>
        <p:spPr>
          <a:xfrm>
            <a:off x="3692018" y="918914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2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0.71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=0.81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723110" y="901279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0.65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=0.84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2" y="1917542"/>
            <a:ext cx="2625017" cy="200001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801" y="1912823"/>
            <a:ext cx="2631211" cy="200473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605" y="1912823"/>
            <a:ext cx="2631211" cy="200473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371" y="3738653"/>
            <a:ext cx="5316070" cy="141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6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75" y="1021977"/>
            <a:ext cx="7969653" cy="397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1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smtClean="0"/>
              <a:t>Balance local y SC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0" y="415425"/>
            <a:ext cx="3853423" cy="210186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406" y="1981961"/>
            <a:ext cx="3813737" cy="208022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437" y="2856939"/>
            <a:ext cx="3736882" cy="203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4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4" y="972111"/>
            <a:ext cx="4904216" cy="366264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50903" y="1134447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0.2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=0.2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350903" y="2352073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2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0.40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=0.45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373487" y="3536903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0.48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=0.47</a:t>
            </a:r>
          </a:p>
        </p:txBody>
      </p:sp>
    </p:spTree>
    <p:extLst>
      <p:ext uri="{BB962C8B-B14F-4D97-AF65-F5344CB8AC3E}">
        <p14:creationId xmlns:p14="http://schemas.microsoft.com/office/powerpoint/2010/main" val="87235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6350903" y="1134447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1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0.2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=0.2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350903" y="2352073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2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0.40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=0.45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373487" y="3536903"/>
            <a:ext cx="1786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VENTANA 3</a:t>
            </a:r>
          </a:p>
          <a:p>
            <a:endParaRPr lang="es-ES" sz="1200" dirty="0" smtClean="0"/>
          </a:p>
          <a:p>
            <a:r>
              <a:rPr lang="es-ES" sz="1200" dirty="0" err="1" smtClean="0"/>
              <a:t>K_g</a:t>
            </a:r>
            <a:r>
              <a:rPr lang="es-ES" sz="1200" dirty="0" smtClean="0"/>
              <a:t>= 0.48</a:t>
            </a:r>
          </a:p>
          <a:p>
            <a:r>
              <a:rPr lang="es-ES" sz="1200" dirty="0" err="1" smtClean="0"/>
              <a:t>K_m</a:t>
            </a:r>
            <a:r>
              <a:rPr lang="es-ES" sz="1200" dirty="0" smtClean="0"/>
              <a:t>=0.47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44" y="965928"/>
            <a:ext cx="3815447" cy="381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04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Balance local y SC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366" y="896625"/>
            <a:ext cx="5504610" cy="413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4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65639</TotalTime>
  <Words>305</Words>
  <Application>Microsoft Office PowerPoint</Application>
  <PresentationFormat>Presentación en pantalla (16:9)</PresentationFormat>
  <Paragraphs>124</Paragraphs>
  <Slides>42</Slides>
  <Notes>4</Notes>
  <HiddenSlides>8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6" baseType="lpstr">
      <vt:lpstr>Roboto</vt:lpstr>
      <vt:lpstr>Arial</vt:lpstr>
      <vt:lpstr>Fira Sans Extra Condensed Medium</vt:lpstr>
      <vt:lpstr>Data Charts Infographics by Slidesgo</vt:lpstr>
      <vt:lpstr>resumen resultados</vt:lpstr>
      <vt:lpstr>GAM</vt:lpstr>
      <vt:lpstr>GRANGER CAUSALITY</vt:lpstr>
      <vt:lpstr>BOOTSTRAP</vt:lpstr>
      <vt:lpstr>Número links según filtro de abundancia mínima de polen </vt:lpstr>
      <vt:lpstr>Número links según</vt:lpstr>
      <vt:lpstr>Redes por comunidades. Delta y condicionales</vt:lpstr>
      <vt:lpstr>Porcentaje de links negativos según umbral de p valor. </vt:lpstr>
      <vt:lpstr>Garba Guracha</vt:lpstr>
      <vt:lpstr>Garba Guracha</vt:lpstr>
      <vt:lpstr>Basa de la mora</vt:lpstr>
      <vt:lpstr>Porcentaje de links negativos según umbral de p valor. </vt:lpstr>
      <vt:lpstr>Porcentaje de links negativos según umbral de p valor. </vt:lpstr>
      <vt:lpstr>Temporalidad Basa de la Mora</vt:lpstr>
      <vt:lpstr>Temporalidad Basa de la Mora norm</vt:lpstr>
      <vt:lpstr>Temporalidad GG</vt:lpstr>
      <vt:lpstr>Temporalidad</vt:lpstr>
      <vt:lpstr>Temporalidad GG normalizada</vt:lpstr>
      <vt:lpstr>Temporalidad</vt:lpstr>
      <vt:lpstr>Presentación de PowerPoint</vt:lpstr>
      <vt:lpstr>Temporalidad</vt:lpstr>
      <vt:lpstr>Reciprocidad</vt:lpstr>
      <vt:lpstr>Reciprocidad GG normalizada</vt:lpstr>
      <vt:lpstr>Reciprocidad Basa Mora normalizada</vt:lpstr>
      <vt:lpstr>Reciprocidad</vt:lpstr>
      <vt:lpstr>Reciprocidad</vt:lpstr>
      <vt:lpstr>Reciprocidad</vt:lpstr>
      <vt:lpstr>Reciprocidad</vt:lpstr>
      <vt:lpstr>ESPECIFICIDAD</vt:lpstr>
      <vt:lpstr>K_in k_out</vt:lpstr>
      <vt:lpstr>Presentación de PowerPoint</vt:lpstr>
      <vt:lpstr>Presentación de PowerPoint</vt:lpstr>
      <vt:lpstr>Balance (Garba Guracha con pc)</vt:lpstr>
      <vt:lpstr>Balance (Garba Guracha no pc)</vt:lpstr>
      <vt:lpstr>Tramacastilla</vt:lpstr>
      <vt:lpstr>Tramacastilla</vt:lpstr>
      <vt:lpstr>Balance local y SC</vt:lpstr>
      <vt:lpstr>Balance local y SC</vt:lpstr>
      <vt:lpstr>Balance local y SC</vt:lpstr>
      <vt:lpstr>Balance local y SC</vt:lpstr>
      <vt:lpstr>Balance local y SC</vt:lpstr>
      <vt:lpstr>Balance local y SC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TFM REVIEW</dc:title>
  <dc:creator>Ana Cano</dc:creator>
  <cp:lastModifiedBy>Cuenta Microsoft</cp:lastModifiedBy>
  <cp:revision>90</cp:revision>
  <dcterms:modified xsi:type="dcterms:W3CDTF">2026-06-11T06:18:05Z</dcterms:modified>
</cp:coreProperties>
</file>